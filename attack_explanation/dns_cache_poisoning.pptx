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 id="2147483710" r:id="rId2"/>
  </p:sldMasterIdLst>
  <p:sldIdLst>
    <p:sldId id="267" r:id="rId3"/>
    <p:sldId id="256" r:id="rId4"/>
    <p:sldId id="257" r:id="rId5"/>
    <p:sldId id="268" r:id="rId6"/>
    <p:sldId id="269" r:id="rId7"/>
    <p:sldId id="270" r:id="rId8"/>
    <p:sldId id="271" r:id="rId9"/>
    <p:sldId id="272" r:id="rId10"/>
    <p:sldId id="273" r:id="rId11"/>
    <p:sldId id="266" r:id="rId12"/>
    <p:sldId id="258" r:id="rId13"/>
    <p:sldId id="260" r:id="rId14"/>
    <p:sldId id="261" r:id="rId15"/>
    <p:sldId id="262" r:id="rId16"/>
    <p:sldId id="264" r:id="rId17"/>
    <p:sldId id="265" r:id="rId18"/>
    <p:sldId id="274"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1E9C54-EAEB-8394-9853-350FF7EF2195}" v="200" dt="2025-11-25T09:14:00.798"/>
    <p1510:client id="{62841741-3A03-23C3-D532-16EE4A174699}" v="39" dt="2025-11-24T17:42:08.066"/>
    <p1510:client id="{8EF3C90D-C364-C14F-7A2D-5ED643FE5154}" v="74" dt="2025-11-25T09:58:21.265"/>
    <p1510:client id="{C037219E-52C5-DA96-1741-7E15F7B2B090}" v="1017" dt="2025-11-23T17:27:40.6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21818-E75A-458F-AC5B-0E9A2C76B835}"/>
              </a:ext>
            </a:extLst>
          </p:cNvPr>
          <p:cNvSpPr>
            <a:spLocks noGrp="1"/>
          </p:cNvSpPr>
          <p:nvPr>
            <p:ph type="ctrTitle"/>
          </p:nvPr>
        </p:nvSpPr>
        <p:spPr>
          <a:xfrm>
            <a:off x="448056" y="448056"/>
            <a:ext cx="11292840" cy="3401568"/>
          </a:xfrm>
        </p:spPr>
        <p:txBody>
          <a:bodyPr anchor="b">
            <a:normAutofit/>
          </a:bodyPr>
          <a:lstStyle>
            <a:lvl1pPr algn="l">
              <a:defRPr sz="6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6EE64DE-978B-4F95-BB3C-D027D8008748}"/>
              </a:ext>
            </a:extLst>
          </p:cNvPr>
          <p:cNvSpPr>
            <a:spLocks noGrp="1"/>
          </p:cNvSpPr>
          <p:nvPr>
            <p:ph type="subTitle" idx="1"/>
          </p:nvPr>
        </p:nvSpPr>
        <p:spPr>
          <a:xfrm>
            <a:off x="448056" y="4471416"/>
            <a:ext cx="11292840" cy="1481328"/>
          </a:xfrm>
        </p:spPr>
        <p:txBody>
          <a:bodyPr/>
          <a:lstStyle>
            <a:lvl1pPr marL="0" indent="0" algn="l">
              <a:lnSpc>
                <a:spcPct val="120000"/>
              </a:lnSpc>
              <a:buNone/>
              <a:defRPr sz="2400">
                <a:solidFill>
                  <a:schemeClr val="tx2">
                    <a:alpha val="5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a:extLst>
              <a:ext uri="{FF2B5EF4-FFF2-40B4-BE49-F238E27FC236}">
                <a16:creationId xmlns:a16="http://schemas.microsoft.com/office/drawing/2014/main" id="{C66CC717-08C5-4F3E-B8AA-BA93C8755982}"/>
              </a:ext>
            </a:extLst>
          </p:cNvPr>
          <p:cNvCxnSpPr>
            <a:cxnSpLocks/>
          </p:cNvCxnSpPr>
          <p:nvPr/>
        </p:nvCxnSpPr>
        <p:spPr>
          <a:xfrm>
            <a:off x="449400" y="4122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896B5700-AA45-4E20-8BE5-27620411303F}"/>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10" name="Slide Number Placeholder 5">
            <a:extLst>
              <a:ext uri="{FF2B5EF4-FFF2-40B4-BE49-F238E27FC236}">
                <a16:creationId xmlns:a16="http://schemas.microsoft.com/office/drawing/2014/main" id="{7C5B7199-CC00-4D38-8B48-F8A539112985}"/>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11" name="Date Placeholder 3">
            <a:extLst>
              <a:ext uri="{FF2B5EF4-FFF2-40B4-BE49-F238E27FC236}">
                <a16:creationId xmlns:a16="http://schemas.microsoft.com/office/drawing/2014/main" id="{16BC76EC-3453-4CE0-A71D-BD21940757B4}"/>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Tuesday, November 25, 2025</a:t>
            </a:fld>
            <a:endParaRPr lang="en-US" dirty="0"/>
          </a:p>
        </p:txBody>
      </p:sp>
    </p:spTree>
    <p:extLst>
      <p:ext uri="{BB962C8B-B14F-4D97-AF65-F5344CB8AC3E}">
        <p14:creationId xmlns:p14="http://schemas.microsoft.com/office/powerpoint/2010/main" val="929170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7685-BDD9-488F-B082-33592E0F1364}"/>
              </a:ext>
            </a:extLst>
          </p:cNvPr>
          <p:cNvSpPr>
            <a:spLocks noGrp="1"/>
          </p:cNvSpPr>
          <p:nvPr>
            <p:ph type="title"/>
          </p:nvPr>
        </p:nvSpPr>
        <p:spPr/>
        <p:txBody>
          <a:bodyPr wrap="square"/>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E9CB5FF-7FB5-4B8A-BF1C-48765D40B4C0}"/>
              </a:ext>
            </a:extLst>
          </p:cNvPr>
          <p:cNvSpPr>
            <a:spLocks noGrp="1"/>
          </p:cNvSpPr>
          <p:nvPr>
            <p:ph idx="1"/>
          </p:nvPr>
        </p:nvSpPr>
        <p:spPr>
          <a:xfrm>
            <a:off x="448056" y="1735200"/>
            <a:ext cx="11293200" cy="3783013"/>
          </a:xfrm>
        </p:spPr>
        <p:txBody>
          <a:bodyPr wrap="square"/>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BDA03860-F8F0-4186-B5D0-72C935B2C2A9}"/>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8" name="Slide Number Placeholder 5">
            <a:extLst>
              <a:ext uri="{FF2B5EF4-FFF2-40B4-BE49-F238E27FC236}">
                <a16:creationId xmlns:a16="http://schemas.microsoft.com/office/drawing/2014/main" id="{60B9D802-9E36-42DA-B6CA-6C937CBE8A94}"/>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9" name="Date Placeholder 3">
            <a:extLst>
              <a:ext uri="{FF2B5EF4-FFF2-40B4-BE49-F238E27FC236}">
                <a16:creationId xmlns:a16="http://schemas.microsoft.com/office/drawing/2014/main" id="{C227B5A7-BF66-4C50-9DAD-A24070310B83}"/>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Tuesday, November 25, 2025</a:t>
            </a:fld>
            <a:endParaRPr lang="en-US" dirty="0"/>
          </a:p>
        </p:txBody>
      </p:sp>
    </p:spTree>
    <p:extLst>
      <p:ext uri="{BB962C8B-B14F-4D97-AF65-F5344CB8AC3E}">
        <p14:creationId xmlns:p14="http://schemas.microsoft.com/office/powerpoint/2010/main" val="2482990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E2B8D-DB20-44D1-84BC-F76685913380}"/>
              </a:ext>
            </a:extLst>
          </p:cNvPr>
          <p:cNvSpPr>
            <a:spLocks noGrp="1"/>
          </p:cNvSpPr>
          <p:nvPr>
            <p:ph type="title"/>
          </p:nvPr>
        </p:nvSpPr>
        <p:spPr>
          <a:xfrm>
            <a:off x="448056" y="448056"/>
            <a:ext cx="11311128" cy="3401568"/>
          </a:xfrm>
        </p:spPr>
        <p:txBody>
          <a:bodyPr anchor="b">
            <a:normAutofit/>
          </a:bodyPr>
          <a:lstStyle>
            <a:lvl1pPr>
              <a:defRPr sz="6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594C298-618E-4642-8F2B-8DD253ED5C06}"/>
              </a:ext>
            </a:extLst>
          </p:cNvPr>
          <p:cNvSpPr>
            <a:spLocks noGrp="1"/>
          </p:cNvSpPr>
          <p:nvPr>
            <p:ph type="body" idx="1"/>
          </p:nvPr>
        </p:nvSpPr>
        <p:spPr>
          <a:xfrm>
            <a:off x="448056" y="4471416"/>
            <a:ext cx="11292840" cy="1481328"/>
          </a:xfrm>
        </p:spPr>
        <p:txBody>
          <a:bodyPr/>
          <a:lstStyle>
            <a:lvl1pPr marL="0" indent="0">
              <a:lnSpc>
                <a:spcPct val="120000"/>
              </a:lnSpc>
              <a:buNone/>
              <a:defRPr sz="2400">
                <a:solidFill>
                  <a:schemeClr val="tx2">
                    <a:alpha val="5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B3ECD5-2EEA-457B-9C93-36F8AF368EC7}"/>
              </a:ext>
            </a:extLst>
          </p:cNvPr>
          <p:cNvSpPr>
            <a:spLocks noGrp="1"/>
          </p:cNvSpPr>
          <p:nvPr>
            <p:ph type="dt" sz="half" idx="10"/>
          </p:nvPr>
        </p:nvSpPr>
        <p:spPr>
          <a:xfrm>
            <a:off x="438912" y="6153912"/>
            <a:ext cx="3456432" cy="502920"/>
          </a:xfrm>
          <a:prstGeom prst="rect">
            <a:avLst/>
          </a:prstGeom>
        </p:spPr>
        <p:txBody>
          <a:bodyPr/>
          <a:lstStyle/>
          <a:p>
            <a:fld id="{10EDCA73-0A86-4195-A787-75037827079D}" type="datetime2">
              <a:rPr lang="en-US" smtClean="0"/>
              <a:t>Tuesday, November 25, 2025</a:t>
            </a:fld>
            <a:endParaRPr lang="en-US"/>
          </a:p>
        </p:txBody>
      </p:sp>
      <p:sp>
        <p:nvSpPr>
          <p:cNvPr id="5" name="Footer Placeholder 4">
            <a:extLst>
              <a:ext uri="{FF2B5EF4-FFF2-40B4-BE49-F238E27FC236}">
                <a16:creationId xmlns:a16="http://schemas.microsoft.com/office/drawing/2014/main" id="{D79A15D4-F172-4025-9290-C8F5D419720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926CD73-9984-4E1D-BD74-37115C1F4C57}"/>
              </a:ext>
            </a:extLst>
          </p:cNvPr>
          <p:cNvSpPr>
            <a:spLocks noGrp="1"/>
          </p:cNvSpPr>
          <p:nvPr>
            <p:ph type="sldNum" sz="quarter" idx="12"/>
          </p:nvPr>
        </p:nvSpPr>
        <p:spPr/>
        <p:txBody>
          <a:bodyPr rIns="219456"/>
          <a:lstStyle/>
          <a:p>
            <a:fld id="{0D309695-DEC3-40DA-9DF5-330280C9D0E8}" type="slidenum">
              <a:rPr lang="en-US" smtClean="0"/>
              <a:t>‹#›</a:t>
            </a:fld>
            <a:endParaRPr lang="en-US"/>
          </a:p>
        </p:txBody>
      </p:sp>
      <p:cxnSp>
        <p:nvCxnSpPr>
          <p:cNvPr id="8" name="Straight Connector 7">
            <a:extLst>
              <a:ext uri="{FF2B5EF4-FFF2-40B4-BE49-F238E27FC236}">
                <a16:creationId xmlns:a16="http://schemas.microsoft.com/office/drawing/2014/main" id="{E99FAD47-5E44-4EE5-A422-A77593F8F3A3}"/>
              </a:ext>
            </a:extLst>
          </p:cNvPr>
          <p:cNvCxnSpPr>
            <a:cxnSpLocks/>
          </p:cNvCxnSpPr>
          <p:nvPr/>
        </p:nvCxnSpPr>
        <p:spPr>
          <a:xfrm>
            <a:off x="449400" y="4122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7953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74E41-AB27-418C-AA9E-8F863DDE362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8B9E10A-E18D-4122-A71B-0A22F695E076}"/>
              </a:ext>
            </a:extLst>
          </p:cNvPr>
          <p:cNvSpPr>
            <a:spLocks noGrp="1"/>
          </p:cNvSpPr>
          <p:nvPr>
            <p:ph sz="half" idx="1"/>
          </p:nvPr>
        </p:nvSpPr>
        <p:spPr>
          <a:xfrm>
            <a:off x="448056" y="1735200"/>
            <a:ext cx="5431536" cy="4214750"/>
          </a:xfrm>
        </p:spPr>
        <p:txBody>
          <a:bodyPr/>
          <a:lstStyle>
            <a:lvl1pPr marL="450000">
              <a:defRPr/>
            </a:lvl1pPr>
            <a:lvl2pPr marL="900000">
              <a:defRPr/>
            </a:lvl2pPr>
            <a:lvl3pPr marL="1350000">
              <a:defRPr/>
            </a:lvl3pPr>
            <a:lvl4pPr marL="1800000">
              <a:defRPr/>
            </a:lvl4pPr>
            <a:lvl5pPr marL="225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0CB980D-2720-431B-88C8-4D837023BBFF}"/>
              </a:ext>
            </a:extLst>
          </p:cNvPr>
          <p:cNvSpPr>
            <a:spLocks noGrp="1"/>
          </p:cNvSpPr>
          <p:nvPr>
            <p:ph sz="half" idx="2"/>
          </p:nvPr>
        </p:nvSpPr>
        <p:spPr>
          <a:xfrm>
            <a:off x="6309360" y="1735200"/>
            <a:ext cx="5431536" cy="4214750"/>
          </a:xfrm>
        </p:spPr>
        <p:txBody>
          <a:bodyPr/>
          <a:lstStyle>
            <a:lvl2pPr marL="900000">
              <a:defRPr/>
            </a:lvl2pPr>
            <a:lvl3pPr marL="1350000">
              <a:defRPr/>
            </a:lvl3pPr>
            <a:lvl4pPr marL="1800000">
              <a:defRPr/>
            </a:lvl4pPr>
            <a:lvl5pPr marL="243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E8EB211-F6F7-4C53-B25F-F1EBF7A8BF4E}"/>
              </a:ext>
            </a:extLst>
          </p:cNvPr>
          <p:cNvSpPr>
            <a:spLocks noGrp="1"/>
          </p:cNvSpPr>
          <p:nvPr>
            <p:ph type="dt" sz="half" idx="10"/>
          </p:nvPr>
        </p:nvSpPr>
        <p:spPr>
          <a:xfrm>
            <a:off x="438912" y="6153912"/>
            <a:ext cx="3456432" cy="502920"/>
          </a:xfrm>
          <a:prstGeom prst="rect">
            <a:avLst/>
          </a:prstGeom>
        </p:spPr>
        <p:txBody>
          <a:bodyPr/>
          <a:lstStyle/>
          <a:p>
            <a:fld id="{83C75374-B296-498E-A935-80631EA9020D}" type="datetime2">
              <a:rPr lang="en-US" smtClean="0"/>
              <a:t>Tuesday, November 25, 2025</a:t>
            </a:fld>
            <a:endParaRPr lang="en-US"/>
          </a:p>
        </p:txBody>
      </p:sp>
      <p:sp>
        <p:nvSpPr>
          <p:cNvPr id="6" name="Footer Placeholder 5">
            <a:extLst>
              <a:ext uri="{FF2B5EF4-FFF2-40B4-BE49-F238E27FC236}">
                <a16:creationId xmlns:a16="http://schemas.microsoft.com/office/drawing/2014/main" id="{D0AA830D-482E-415E-B855-D561B94BDC2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2D7FB2AC-9F49-4D35-8C5E-ECECC6B13134}"/>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3554687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25D59-DC0A-4295-8714-902B54B983AF}"/>
              </a:ext>
            </a:extLst>
          </p:cNvPr>
          <p:cNvSpPr>
            <a:spLocks noGrp="1"/>
          </p:cNvSpPr>
          <p:nvPr>
            <p:ph type="title"/>
          </p:nvPr>
        </p:nvSpPr>
        <p:spPr>
          <a:xfrm>
            <a:off x="448056" y="388800"/>
            <a:ext cx="11311128" cy="114120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67A33E2-E7AE-4E37-9DF1-69697E45D2A7}"/>
              </a:ext>
            </a:extLst>
          </p:cNvPr>
          <p:cNvSpPr>
            <a:spLocks noGrp="1"/>
          </p:cNvSpPr>
          <p:nvPr>
            <p:ph type="body" idx="1"/>
          </p:nvPr>
        </p:nvSpPr>
        <p:spPr>
          <a:xfrm>
            <a:off x="448056" y="1774952"/>
            <a:ext cx="5431536" cy="612648"/>
          </a:xfrm>
        </p:spPr>
        <p:txBody>
          <a:bodyPr anchor="t">
            <a:normAutofit/>
          </a:bodyPr>
          <a:lstStyle>
            <a:lvl1pPr marL="0" indent="0">
              <a:lnSpc>
                <a:spcPct val="100000"/>
              </a:lnSpc>
              <a:buNone/>
              <a:defRPr sz="2000" b="0" i="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2E79D5-E651-4B82-AFAA-DE6E16AC3EB8}"/>
              </a:ext>
            </a:extLst>
          </p:cNvPr>
          <p:cNvSpPr>
            <a:spLocks noGrp="1"/>
          </p:cNvSpPr>
          <p:nvPr>
            <p:ph sz="half" idx="2"/>
          </p:nvPr>
        </p:nvSpPr>
        <p:spPr>
          <a:xfrm>
            <a:off x="448056" y="2752344"/>
            <a:ext cx="5431536"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1A91196-F771-42C3-A726-A4ECF561FFF3}"/>
              </a:ext>
            </a:extLst>
          </p:cNvPr>
          <p:cNvSpPr>
            <a:spLocks noGrp="1"/>
          </p:cNvSpPr>
          <p:nvPr>
            <p:ph type="body" sz="quarter" idx="3"/>
          </p:nvPr>
        </p:nvSpPr>
        <p:spPr>
          <a:xfrm>
            <a:off x="6309360" y="1774952"/>
            <a:ext cx="5431536" cy="612648"/>
          </a:xfrm>
        </p:spPr>
        <p:txBody>
          <a:bodyPr anchor="t">
            <a:normAutofit/>
          </a:bodyPr>
          <a:lstStyle>
            <a:lvl1pPr marL="0" indent="0">
              <a:lnSpc>
                <a:spcPct val="100000"/>
              </a:lnSpc>
              <a:buNone/>
              <a:defRPr sz="2000" b="0" i="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76BA18-D373-4B5F-B812-5D5E4C2378E7}"/>
              </a:ext>
            </a:extLst>
          </p:cNvPr>
          <p:cNvSpPr>
            <a:spLocks noGrp="1"/>
          </p:cNvSpPr>
          <p:nvPr>
            <p:ph sz="quarter" idx="4"/>
          </p:nvPr>
        </p:nvSpPr>
        <p:spPr>
          <a:xfrm>
            <a:off x="6309360" y="2752344"/>
            <a:ext cx="5431536"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F395D0EB-9F99-4C95-ADA6-AC6B493CCA9D}"/>
              </a:ext>
            </a:extLst>
          </p:cNvPr>
          <p:cNvSpPr>
            <a:spLocks noGrp="1"/>
          </p:cNvSpPr>
          <p:nvPr>
            <p:ph type="dt" sz="half" idx="10"/>
          </p:nvPr>
        </p:nvSpPr>
        <p:spPr>
          <a:xfrm>
            <a:off x="438912" y="6153912"/>
            <a:ext cx="3456432" cy="502920"/>
          </a:xfrm>
          <a:prstGeom prst="rect">
            <a:avLst/>
          </a:prstGeom>
        </p:spPr>
        <p:txBody>
          <a:bodyPr/>
          <a:lstStyle/>
          <a:p>
            <a:fld id="{B098B728-214A-4ABC-8432-5B3A5A66A987}" type="datetime2">
              <a:rPr lang="en-US" smtClean="0"/>
              <a:t>Tuesday, November 25, 2025</a:t>
            </a:fld>
            <a:endParaRPr lang="en-US" dirty="0"/>
          </a:p>
        </p:txBody>
      </p:sp>
      <p:sp>
        <p:nvSpPr>
          <p:cNvPr id="8" name="Footer Placeholder 7">
            <a:extLst>
              <a:ext uri="{FF2B5EF4-FFF2-40B4-BE49-F238E27FC236}">
                <a16:creationId xmlns:a16="http://schemas.microsoft.com/office/drawing/2014/main" id="{27EB69A9-1E48-4683-8873-D888C39E6EE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57E419C-3010-4562-BA4B-ECBC2DBE629E}"/>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39832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58066-A255-4886-A4B0-2AC829A768F3}"/>
              </a:ext>
            </a:extLst>
          </p:cNvPr>
          <p:cNvSpPr>
            <a:spLocks noGrp="1"/>
          </p:cNvSpPr>
          <p:nvPr>
            <p:ph type="title"/>
          </p:nvPr>
        </p:nvSpPr>
        <p:spPr>
          <a:xfrm>
            <a:off x="448056" y="388800"/>
            <a:ext cx="11311128" cy="5559552"/>
          </a:xfrm>
        </p:spPr>
        <p:txBody>
          <a:bodyPr wrap="square"/>
          <a:lstStyle/>
          <a:p>
            <a:r>
              <a:rPr lang="en-US"/>
              <a:t>Click to edit Master title style</a:t>
            </a:r>
            <a:endParaRPr lang="en-US" dirty="0"/>
          </a:p>
        </p:txBody>
      </p:sp>
      <p:sp>
        <p:nvSpPr>
          <p:cNvPr id="3" name="Date Placeholder 2">
            <a:extLst>
              <a:ext uri="{FF2B5EF4-FFF2-40B4-BE49-F238E27FC236}">
                <a16:creationId xmlns:a16="http://schemas.microsoft.com/office/drawing/2014/main" id="{2068D80A-6560-46E3-AF30-9CEC54EA747C}"/>
              </a:ext>
            </a:extLst>
          </p:cNvPr>
          <p:cNvSpPr>
            <a:spLocks noGrp="1"/>
          </p:cNvSpPr>
          <p:nvPr>
            <p:ph type="dt" sz="half" idx="10"/>
          </p:nvPr>
        </p:nvSpPr>
        <p:spPr>
          <a:xfrm>
            <a:off x="438912" y="6153912"/>
            <a:ext cx="3456432" cy="502920"/>
          </a:xfrm>
          <a:prstGeom prst="rect">
            <a:avLst/>
          </a:prstGeom>
        </p:spPr>
        <p:txBody>
          <a:bodyPr/>
          <a:lstStyle/>
          <a:p>
            <a:fld id="{015F02D0-6806-43AF-9888-2359BF40C204}" type="datetime2">
              <a:rPr lang="en-US" smtClean="0"/>
              <a:t>Tuesday, November 25, 2025</a:t>
            </a:fld>
            <a:endParaRPr lang="en-US"/>
          </a:p>
        </p:txBody>
      </p:sp>
      <p:sp>
        <p:nvSpPr>
          <p:cNvPr id="4" name="Footer Placeholder 3">
            <a:extLst>
              <a:ext uri="{FF2B5EF4-FFF2-40B4-BE49-F238E27FC236}">
                <a16:creationId xmlns:a16="http://schemas.microsoft.com/office/drawing/2014/main" id="{4AB673C2-FB1E-46F5-8CFB-93B9DB807075}"/>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91E2120-410F-4382-81AB-37F161F72150}"/>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3691603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802222-E41B-48E7-BF06-5C5509D621C0}"/>
              </a:ext>
            </a:extLst>
          </p:cNvPr>
          <p:cNvSpPr>
            <a:spLocks noGrp="1"/>
          </p:cNvSpPr>
          <p:nvPr>
            <p:ph type="dt" sz="half" idx="10"/>
          </p:nvPr>
        </p:nvSpPr>
        <p:spPr>
          <a:xfrm>
            <a:off x="438912" y="6153912"/>
            <a:ext cx="3456432" cy="502920"/>
          </a:xfrm>
          <a:prstGeom prst="rect">
            <a:avLst/>
          </a:prstGeom>
        </p:spPr>
        <p:txBody>
          <a:bodyPr/>
          <a:lstStyle/>
          <a:p>
            <a:fld id="{8EE14D2D-B1AF-4197-82D6-FC1F8BD05681}" type="datetime2">
              <a:rPr lang="en-US" smtClean="0"/>
              <a:t>Tuesday, November 25, 2025</a:t>
            </a:fld>
            <a:endParaRPr lang="en-US"/>
          </a:p>
        </p:txBody>
      </p:sp>
      <p:sp>
        <p:nvSpPr>
          <p:cNvPr id="3" name="Footer Placeholder 2">
            <a:extLst>
              <a:ext uri="{FF2B5EF4-FFF2-40B4-BE49-F238E27FC236}">
                <a16:creationId xmlns:a16="http://schemas.microsoft.com/office/drawing/2014/main" id="{17A636E3-B721-46E8-882F-C123530F0FE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C4FC1178-3E0E-449A-B799-009C04C069AF}"/>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2227968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23392-4FF4-4922-A14E-8AA23A9BDD70}"/>
              </a:ext>
            </a:extLst>
          </p:cNvPr>
          <p:cNvSpPr>
            <a:spLocks noGrp="1"/>
          </p:cNvSpPr>
          <p:nvPr>
            <p:ph type="title"/>
          </p:nvPr>
        </p:nvSpPr>
        <p:spPr>
          <a:xfrm>
            <a:off x="448056" y="388800"/>
            <a:ext cx="3447288" cy="1069848"/>
          </a:xfrm>
        </p:spPr>
        <p:txBody>
          <a:bodyPr wrap="square"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04FB38E-5055-4C9B-9A3B-A7B3A4887944}"/>
              </a:ext>
            </a:extLst>
          </p:cNvPr>
          <p:cNvSpPr>
            <a:spLocks noGrp="1"/>
          </p:cNvSpPr>
          <p:nvPr>
            <p:ph idx="1"/>
          </p:nvPr>
        </p:nvSpPr>
        <p:spPr>
          <a:xfrm>
            <a:off x="4370832" y="393192"/>
            <a:ext cx="7379208" cy="5559552"/>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E2EC2DB-2ED3-408C-BFF2-F413C9D8F91E}"/>
              </a:ext>
            </a:extLst>
          </p:cNvPr>
          <p:cNvSpPr>
            <a:spLocks noGrp="1"/>
          </p:cNvSpPr>
          <p:nvPr>
            <p:ph type="body" sz="half" idx="2"/>
          </p:nvPr>
        </p:nvSpPr>
        <p:spPr>
          <a:xfrm>
            <a:off x="448056" y="1733550"/>
            <a:ext cx="3447288" cy="421919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374FDF-3000-4B2C-AC88-8CE34D680596}"/>
              </a:ext>
            </a:extLst>
          </p:cNvPr>
          <p:cNvSpPr>
            <a:spLocks noGrp="1"/>
          </p:cNvSpPr>
          <p:nvPr>
            <p:ph type="dt" sz="half" idx="10"/>
          </p:nvPr>
        </p:nvSpPr>
        <p:spPr>
          <a:xfrm>
            <a:off x="438912" y="6153912"/>
            <a:ext cx="3456432" cy="502920"/>
          </a:xfrm>
          <a:prstGeom prst="rect">
            <a:avLst/>
          </a:prstGeom>
        </p:spPr>
        <p:txBody>
          <a:bodyPr/>
          <a:lstStyle/>
          <a:p>
            <a:fld id="{98771CEB-9838-4245-91B8-EFBAFE2D8B44}" type="datetime2">
              <a:rPr lang="en-US" smtClean="0"/>
              <a:t>Tuesday, November 25, 2025</a:t>
            </a:fld>
            <a:endParaRPr lang="en-US"/>
          </a:p>
        </p:txBody>
      </p:sp>
      <p:sp>
        <p:nvSpPr>
          <p:cNvPr id="6" name="Footer Placeholder 5">
            <a:extLst>
              <a:ext uri="{FF2B5EF4-FFF2-40B4-BE49-F238E27FC236}">
                <a16:creationId xmlns:a16="http://schemas.microsoft.com/office/drawing/2014/main" id="{0DA0B7F4-5B8C-49BD-9BDA-FCBD13E24227}"/>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502BC00-0803-4A53-8657-91CE0DB80E54}"/>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927949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C2A98-C272-40D9-B75A-77A3D58678E0}"/>
              </a:ext>
            </a:extLst>
          </p:cNvPr>
          <p:cNvSpPr>
            <a:spLocks noGrp="1"/>
          </p:cNvSpPr>
          <p:nvPr>
            <p:ph type="title"/>
          </p:nvPr>
        </p:nvSpPr>
        <p:spPr>
          <a:xfrm>
            <a:off x="448056" y="388800"/>
            <a:ext cx="3447288" cy="1069848"/>
          </a:xfrm>
        </p:spPr>
        <p:txBody>
          <a:bodyPr wrap="square"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AD50DAC-9AC3-4A9A-91B7-6C95E4362561}"/>
              </a:ext>
            </a:extLst>
          </p:cNvPr>
          <p:cNvSpPr>
            <a:spLocks noGrp="1"/>
          </p:cNvSpPr>
          <p:nvPr>
            <p:ph type="pic" idx="1"/>
          </p:nvPr>
        </p:nvSpPr>
        <p:spPr>
          <a:xfrm>
            <a:off x="4370832" y="441324"/>
            <a:ext cx="7373112" cy="551141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3721B04-C243-49A9-B5D3-483379290943}"/>
              </a:ext>
            </a:extLst>
          </p:cNvPr>
          <p:cNvSpPr>
            <a:spLocks noGrp="1"/>
          </p:cNvSpPr>
          <p:nvPr>
            <p:ph type="body" sz="half" idx="2"/>
          </p:nvPr>
        </p:nvSpPr>
        <p:spPr>
          <a:xfrm>
            <a:off x="448056" y="1735200"/>
            <a:ext cx="3447288" cy="421475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8E949C-DD35-44F6-B45A-35134D7E1299}"/>
              </a:ext>
            </a:extLst>
          </p:cNvPr>
          <p:cNvSpPr>
            <a:spLocks noGrp="1"/>
          </p:cNvSpPr>
          <p:nvPr>
            <p:ph type="dt" sz="half" idx="10"/>
          </p:nvPr>
        </p:nvSpPr>
        <p:spPr>
          <a:xfrm>
            <a:off x="438912" y="6153912"/>
            <a:ext cx="3456432" cy="502920"/>
          </a:xfrm>
          <a:prstGeom prst="rect">
            <a:avLst/>
          </a:prstGeom>
        </p:spPr>
        <p:txBody>
          <a:bodyPr/>
          <a:lstStyle/>
          <a:p>
            <a:fld id="{51D3F6BF-A585-41F8-88DF-7E5D069F892A}" type="datetime2">
              <a:rPr lang="en-US" smtClean="0"/>
              <a:t>Tuesday, November 25, 2025</a:t>
            </a:fld>
            <a:endParaRPr lang="en-US"/>
          </a:p>
        </p:txBody>
      </p:sp>
      <p:sp>
        <p:nvSpPr>
          <p:cNvPr id="6" name="Footer Placeholder 5">
            <a:extLst>
              <a:ext uri="{FF2B5EF4-FFF2-40B4-BE49-F238E27FC236}">
                <a16:creationId xmlns:a16="http://schemas.microsoft.com/office/drawing/2014/main" id="{6BC70102-4B8E-4FEC-9BB7-97FDC1EABF8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86693AF-08A9-4388-A9B8-174D53955998}"/>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723107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33FC-38A1-463C-BF3D-0D99784E02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2AFD076A-A004-4560-A43B-028624E20D17}"/>
              </a:ext>
            </a:extLst>
          </p:cNvPr>
          <p:cNvSpPr>
            <a:spLocks noGrp="1"/>
          </p:cNvSpPr>
          <p:nvPr>
            <p:ph type="body" orient="vert" idx="1"/>
          </p:nvPr>
        </p:nvSpPr>
        <p:spPr>
          <a:xfrm>
            <a:off x="448056" y="1956816"/>
            <a:ext cx="11301984" cy="3995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FCFBA60-9309-4F2A-9FA9-305C4AFBECAF}"/>
              </a:ext>
            </a:extLst>
          </p:cNvPr>
          <p:cNvSpPr>
            <a:spLocks noGrp="1"/>
          </p:cNvSpPr>
          <p:nvPr>
            <p:ph type="dt" sz="half" idx="10"/>
          </p:nvPr>
        </p:nvSpPr>
        <p:spPr>
          <a:xfrm>
            <a:off x="438912" y="6153912"/>
            <a:ext cx="3456432" cy="502920"/>
          </a:xfrm>
          <a:prstGeom prst="rect">
            <a:avLst/>
          </a:prstGeom>
        </p:spPr>
        <p:txBody>
          <a:bodyPr/>
          <a:lstStyle/>
          <a:p>
            <a:fld id="{53CF612A-4CB0-4F57-9A87-F049CECB184D}" type="datetime2">
              <a:rPr lang="en-US" smtClean="0"/>
              <a:t>Tuesday, November 25, 2025</a:t>
            </a:fld>
            <a:endParaRPr lang="en-US"/>
          </a:p>
        </p:txBody>
      </p:sp>
      <p:sp>
        <p:nvSpPr>
          <p:cNvPr id="5" name="Footer Placeholder 4">
            <a:extLst>
              <a:ext uri="{FF2B5EF4-FFF2-40B4-BE49-F238E27FC236}">
                <a16:creationId xmlns:a16="http://schemas.microsoft.com/office/drawing/2014/main" id="{491BF451-928F-4E55-8A76-111D0E21121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B5EC161-BA80-4E93-AEB1-B61E38C098BB}"/>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4253747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44E3E-5EFE-4FCB-86A2-5E20CC6525EC}"/>
              </a:ext>
            </a:extLst>
          </p:cNvPr>
          <p:cNvSpPr>
            <a:spLocks noGrp="1"/>
          </p:cNvSpPr>
          <p:nvPr>
            <p:ph type="title" orient="vert"/>
          </p:nvPr>
        </p:nvSpPr>
        <p:spPr>
          <a:xfrm>
            <a:off x="10232136" y="448056"/>
            <a:ext cx="1581912" cy="550468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95005E-2E0C-4200-BF29-1135A35EE9B9}"/>
              </a:ext>
            </a:extLst>
          </p:cNvPr>
          <p:cNvSpPr>
            <a:spLocks noGrp="1"/>
          </p:cNvSpPr>
          <p:nvPr>
            <p:ph type="body" orient="vert" idx="1"/>
          </p:nvPr>
        </p:nvSpPr>
        <p:spPr>
          <a:xfrm>
            <a:off x="438912" y="438912"/>
            <a:ext cx="9436608" cy="55046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12BBBED-3B21-4271-BC0F-BBA258B59D48}"/>
              </a:ext>
            </a:extLst>
          </p:cNvPr>
          <p:cNvSpPr>
            <a:spLocks noGrp="1"/>
          </p:cNvSpPr>
          <p:nvPr>
            <p:ph type="dt" sz="half" idx="10"/>
          </p:nvPr>
        </p:nvSpPr>
        <p:spPr>
          <a:xfrm>
            <a:off x="438912" y="6153912"/>
            <a:ext cx="3456432" cy="502920"/>
          </a:xfrm>
          <a:prstGeom prst="rect">
            <a:avLst/>
          </a:prstGeom>
        </p:spPr>
        <p:txBody>
          <a:bodyPr/>
          <a:lstStyle/>
          <a:p>
            <a:fld id="{8F397F40-C8F7-4897-A6B8-241042F913A9}" type="datetime2">
              <a:rPr lang="en-US" smtClean="0"/>
              <a:t>Tuesday, November 25, 2025</a:t>
            </a:fld>
            <a:endParaRPr lang="en-US"/>
          </a:p>
        </p:txBody>
      </p:sp>
      <p:sp>
        <p:nvSpPr>
          <p:cNvPr id="5" name="Footer Placeholder 4">
            <a:extLst>
              <a:ext uri="{FF2B5EF4-FFF2-40B4-BE49-F238E27FC236}">
                <a16:creationId xmlns:a16="http://schemas.microsoft.com/office/drawing/2014/main" id="{2D89CED5-56F3-4943-8143-918F7A860CD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9C87180-7248-4741-8E3B-9AAFB414DD95}"/>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3980225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930571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032532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938143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288515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90350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601465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8445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20296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5203679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5755220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4691769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11/25/2025</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325279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t="-2000" b="-2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DDBCE8-F60C-4E3A-83C0-BDE8DD2DE1FD}"/>
              </a:ext>
            </a:extLst>
          </p:cNvPr>
          <p:cNvSpPr>
            <a:spLocks noGrp="1"/>
          </p:cNvSpPr>
          <p:nvPr>
            <p:ph type="title"/>
          </p:nvPr>
        </p:nvSpPr>
        <p:spPr>
          <a:xfrm>
            <a:off x="448056" y="388800"/>
            <a:ext cx="11301984" cy="1141200"/>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BC57F-72F2-48BC-B1EE-1F2C6155D72E}"/>
              </a:ext>
            </a:extLst>
          </p:cNvPr>
          <p:cNvSpPr>
            <a:spLocks noGrp="1"/>
          </p:cNvSpPr>
          <p:nvPr>
            <p:ph type="body" idx="1"/>
          </p:nvPr>
        </p:nvSpPr>
        <p:spPr>
          <a:xfrm>
            <a:off x="448056" y="1733550"/>
            <a:ext cx="11293200" cy="3783013"/>
          </a:xfrm>
          <a:prstGeom prst="rect">
            <a:avLst/>
          </a:prstGeom>
        </p:spPr>
        <p:txBody>
          <a:bodyPr vert="horz" lIns="0" tIns="0" rIns="9144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930FBC45-A4BC-4EE5-82B1-8BC79122559A}"/>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6" name="Slide Number Placeholder 5">
            <a:extLst>
              <a:ext uri="{FF2B5EF4-FFF2-40B4-BE49-F238E27FC236}">
                <a16:creationId xmlns:a16="http://schemas.microsoft.com/office/drawing/2014/main" id="{725E1300-1995-409E-B058-59180872B694}"/>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10" name="Date Placeholder 3">
            <a:extLst>
              <a:ext uri="{FF2B5EF4-FFF2-40B4-BE49-F238E27FC236}">
                <a16:creationId xmlns:a16="http://schemas.microsoft.com/office/drawing/2014/main" id="{639030E9-7F3B-403F-96B2-7C2C627C30A0}"/>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Tuesday, November 25, 2025</a:t>
            </a:fld>
            <a:endParaRPr lang="en-US" dirty="0"/>
          </a:p>
        </p:txBody>
      </p:sp>
    </p:spTree>
    <p:extLst>
      <p:ext uri="{BB962C8B-B14F-4D97-AF65-F5344CB8AC3E}">
        <p14:creationId xmlns:p14="http://schemas.microsoft.com/office/powerpoint/2010/main" val="2370307030"/>
      </p:ext>
    </p:extLst>
  </p:cSld>
  <p:clrMap bg1="dk1" tx1="lt1" bg2="dk2" tx2="lt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75" r:id="rId5"/>
    <p:sldLayoutId id="2147483776" r:id="rId6"/>
    <p:sldLayoutId id="2147483777" r:id="rId7"/>
    <p:sldLayoutId id="2147483778" r:id="rId8"/>
    <p:sldLayoutId id="2147483779" r:id="rId9"/>
    <p:sldLayoutId id="2147483780" r:id="rId10"/>
    <p:sldLayoutId id="2147483781" r:id="rId11"/>
  </p:sldLayoutIdLst>
  <p:hf sldNum="0" hdr="0" ftr="0" dt="0"/>
  <p:txStyles>
    <p:title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p:titleStyle>
    <p:bodyStyle>
      <a:lvl1pPr marL="450000" indent="-448056" algn="l" defTabSz="914400" rtl="0" eaLnBrk="1" latinLnBrk="0" hangingPunct="1">
        <a:lnSpc>
          <a:spcPct val="140000"/>
        </a:lnSpc>
        <a:spcBef>
          <a:spcPts val="1000"/>
        </a:spcBef>
        <a:buFont typeface="Calibri Light" panose="020F0302020204030204" pitchFamily="34" charset="0"/>
        <a:buChar char="→"/>
        <a:defRPr sz="1800" kern="1200">
          <a:solidFill>
            <a:schemeClr val="tx2">
              <a:alpha val="55000"/>
            </a:schemeClr>
          </a:solidFill>
          <a:latin typeface="+mn-lt"/>
          <a:ea typeface="+mn-ea"/>
          <a:cs typeface="+mn-cs"/>
        </a:defRPr>
      </a:lvl1pPr>
      <a:lvl2pPr marL="90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2pPr>
      <a:lvl3pPr marL="135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3pPr>
      <a:lvl4pPr marL="180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4pPr>
      <a:lvl5pPr marL="2250000" indent="-448056" algn="l" defTabSz="914400" rtl="0" eaLnBrk="1" latinLnBrk="0" hangingPunct="1">
        <a:lnSpc>
          <a:spcPct val="140000"/>
        </a:lnSpc>
        <a:spcBef>
          <a:spcPts val="500"/>
        </a:spcBef>
        <a:buFont typeface="Calibri Light" panose="020F0302020204030204" pitchFamily="34" charset="0"/>
        <a:buChar char="→"/>
        <a:defRPr sz="1800" kern="1200">
          <a:solidFill>
            <a:schemeClr val="tx2">
              <a:alpha val="5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a:blip r:embed="rId14"/>
          <a:stretch>
            <a:fillRect t="-2000" b="-2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11/25/2025</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77092740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698" r:id="rId4"/>
    <p:sldLayoutId id="2147483699" r:id="rId5"/>
    <p:sldLayoutId id="2147483700" r:id="rId6"/>
    <p:sldLayoutId id="2147483705" r:id="rId7"/>
    <p:sldLayoutId id="2147483701" r:id="rId8"/>
    <p:sldLayoutId id="2147483702" r:id="rId9"/>
    <p:sldLayoutId id="2147483703" r:id="rId10"/>
    <p:sldLayoutId id="2147483704" r:id="rId11"/>
    <p:sldLayoutId id="2147483706"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youtu.be/pFh1hmdRAoU?si=ayNj7a114_zaEpA2" TargetMode="External"/><Relationship Id="rId2" Type="http://schemas.openxmlformats.org/officeDocument/2006/relationships/hyperlink" Target="https://www.cloudflare.com/it-it/learning/dns/dns-cache-poisoning/" TargetMode="External"/><Relationship Id="rId1" Type="http://schemas.openxmlformats.org/officeDocument/2006/relationships/slideLayout" Target="../slideLayouts/slideLayout2.xml"/><Relationship Id="rId5" Type="http://schemas.openxmlformats.org/officeDocument/2006/relationships/hyperlink" Target="https://github.com/Zartep/DNS_cache_poisoning_attack_simulation/tree/main" TargetMode="External"/><Relationship Id="rId4" Type="http://schemas.openxmlformats.org/officeDocument/2006/relationships/hyperlink" Target="https://youtu.be/7MT1F0O3_Yw?si=NpUvmqdFNvp4iDq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8B980CB-C959-D266-3AA6-0C6E86110BD2}"/>
              </a:ext>
            </a:extLst>
          </p:cNvPr>
          <p:cNvSpPr/>
          <p:nvPr/>
        </p:nvSpPr>
        <p:spPr>
          <a:xfrm>
            <a:off x="0" y="2708009"/>
            <a:ext cx="12189617" cy="1057481"/>
          </a:xfrm>
          <a:prstGeom prst="rect">
            <a:avLst/>
          </a:prstGeom>
          <a:solidFill>
            <a:schemeClr val="bg1">
              <a:lumMod val="95000"/>
              <a:lumOff val="5000"/>
            </a:schemeClr>
          </a:solidFill>
          <a:effectLst>
            <a:outerShdw blurRad="952500">
              <a:srgbClr val="0000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52BF42-C592-787E-23CF-B3BEF313A35B}"/>
              </a:ext>
            </a:extLst>
          </p:cNvPr>
          <p:cNvSpPr>
            <a:spLocks noGrp="1"/>
          </p:cNvSpPr>
          <p:nvPr>
            <p:ph type="title"/>
          </p:nvPr>
        </p:nvSpPr>
        <p:spPr>
          <a:xfrm>
            <a:off x="1877877" y="2957340"/>
            <a:ext cx="7269377" cy="1141200"/>
          </a:xfrm>
        </p:spPr>
        <p:txBody>
          <a:bodyPr>
            <a:normAutofit/>
          </a:bodyPr>
          <a:lstStyle/>
          <a:p>
            <a:r>
              <a:rPr lang="en-US" sz="4300" b="1" i="0" dirty="0">
                <a:solidFill>
                  <a:schemeClr val="tx1"/>
                </a:solidFill>
                <a:ea typeface="Source Sans Pro Light"/>
              </a:rPr>
              <a:t>DNS CACHE POISONING ATTACK</a:t>
            </a:r>
            <a:endParaRPr lang="en-US" sz="4300" i="0">
              <a:solidFill>
                <a:schemeClr val="tx1"/>
              </a:solidFill>
              <a:ea typeface="Source Sans Pro Light"/>
            </a:endParaRPr>
          </a:p>
        </p:txBody>
      </p:sp>
      <p:pic>
        <p:nvPicPr>
          <p:cNvPr id="5" name="Picture 4">
            <a:extLst>
              <a:ext uri="{FF2B5EF4-FFF2-40B4-BE49-F238E27FC236}">
                <a16:creationId xmlns:a16="http://schemas.microsoft.com/office/drawing/2014/main" id="{7352B0FF-F4C0-39E2-75F7-90EAD016CB3A}"/>
              </a:ext>
            </a:extLst>
          </p:cNvPr>
          <p:cNvPicPr>
            <a:picLocks noChangeAspect="1"/>
          </p:cNvPicPr>
          <p:nvPr/>
        </p:nvPicPr>
        <p:blipFill>
          <a:blip r:embed="rId2"/>
          <a:stretch>
            <a:fillRect/>
          </a:stretch>
        </p:blipFill>
        <p:spPr>
          <a:xfrm>
            <a:off x="9145714" y="2625903"/>
            <a:ext cx="1238037" cy="1229475"/>
          </a:xfrm>
          <a:prstGeom prst="rect">
            <a:avLst/>
          </a:prstGeom>
        </p:spPr>
      </p:pic>
    </p:spTree>
    <p:extLst>
      <p:ext uri="{BB962C8B-B14F-4D97-AF65-F5344CB8AC3E}">
        <p14:creationId xmlns:p14="http://schemas.microsoft.com/office/powerpoint/2010/main" val="2268216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EBC95D3F-C52F-4F07-95D4-836E1078E5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6148518-2051-D357-74D4-BD01382E824F}"/>
              </a:ext>
            </a:extLst>
          </p:cNvPr>
          <p:cNvSpPr txBox="1"/>
          <p:nvPr/>
        </p:nvSpPr>
        <p:spPr>
          <a:xfrm>
            <a:off x="124557" y="102577"/>
            <a:ext cx="7794775"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300" b="1" dirty="0">
                <a:ea typeface="Source Sans Pro"/>
              </a:rPr>
              <a:t>DNS cache poisoning attack :</a:t>
            </a:r>
            <a:endParaRPr lang="en-US" sz="4300" b="1" dirty="0"/>
          </a:p>
        </p:txBody>
      </p:sp>
      <p:pic>
        <p:nvPicPr>
          <p:cNvPr id="12" name="Picture 11">
            <a:extLst>
              <a:ext uri="{FF2B5EF4-FFF2-40B4-BE49-F238E27FC236}">
                <a16:creationId xmlns:a16="http://schemas.microsoft.com/office/drawing/2014/main" id="{6B360C45-32F6-B68C-23FC-EDBFFDB62C10}"/>
              </a:ext>
            </a:extLst>
          </p:cNvPr>
          <p:cNvPicPr>
            <a:picLocks noChangeAspect="1"/>
          </p:cNvPicPr>
          <p:nvPr/>
        </p:nvPicPr>
        <p:blipFill>
          <a:blip r:embed="rId2"/>
          <a:stretch>
            <a:fillRect/>
          </a:stretch>
        </p:blipFill>
        <p:spPr>
          <a:xfrm>
            <a:off x="188360" y="972921"/>
            <a:ext cx="10171416" cy="5554293"/>
          </a:xfrm>
          <a:prstGeom prst="rect">
            <a:avLst/>
          </a:prstGeom>
        </p:spPr>
      </p:pic>
    </p:spTree>
    <p:extLst>
      <p:ext uri="{BB962C8B-B14F-4D97-AF65-F5344CB8AC3E}">
        <p14:creationId xmlns:p14="http://schemas.microsoft.com/office/powerpoint/2010/main" val="3962583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80C73-DDE5-C57C-C5D0-3164BDCF5E40}"/>
              </a:ext>
            </a:extLst>
          </p:cNvPr>
          <p:cNvSpPr>
            <a:spLocks noGrp="1"/>
          </p:cNvSpPr>
          <p:nvPr>
            <p:ph type="title"/>
          </p:nvPr>
        </p:nvSpPr>
        <p:spPr>
          <a:xfrm>
            <a:off x="448056" y="281338"/>
            <a:ext cx="11301984" cy="1141200"/>
          </a:xfrm>
        </p:spPr>
        <p:txBody>
          <a:bodyPr/>
          <a:lstStyle/>
          <a:p>
            <a:r>
              <a:rPr lang="en-US" sz="4300" b="1" i="0" dirty="0">
                <a:latin typeface="Source Sans Pro"/>
                <a:ea typeface="Source Sans Pro Light"/>
              </a:rPr>
              <a:t>Result:</a:t>
            </a:r>
            <a:endParaRPr lang="en-US" sz="4300" b="1" i="0" dirty="0" err="1">
              <a:latin typeface="Source Sans Pro"/>
            </a:endParaRPr>
          </a:p>
        </p:txBody>
      </p:sp>
      <p:pic>
        <p:nvPicPr>
          <p:cNvPr id="6" name="Picture 5">
            <a:extLst>
              <a:ext uri="{FF2B5EF4-FFF2-40B4-BE49-F238E27FC236}">
                <a16:creationId xmlns:a16="http://schemas.microsoft.com/office/drawing/2014/main" id="{B7E3C5F1-6F1F-E105-8BA2-2C8F3022ED6E}"/>
              </a:ext>
            </a:extLst>
          </p:cNvPr>
          <p:cNvPicPr>
            <a:picLocks noChangeAspect="1"/>
          </p:cNvPicPr>
          <p:nvPr/>
        </p:nvPicPr>
        <p:blipFill>
          <a:blip r:embed="rId2"/>
          <a:stretch>
            <a:fillRect/>
          </a:stretch>
        </p:blipFill>
        <p:spPr>
          <a:xfrm>
            <a:off x="146539" y="954479"/>
            <a:ext cx="10277231" cy="5525423"/>
          </a:xfrm>
          <a:prstGeom prst="rect">
            <a:avLst/>
          </a:prstGeom>
        </p:spPr>
      </p:pic>
    </p:spTree>
    <p:extLst>
      <p:ext uri="{BB962C8B-B14F-4D97-AF65-F5344CB8AC3E}">
        <p14:creationId xmlns:p14="http://schemas.microsoft.com/office/powerpoint/2010/main" val="3609145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17E4F-1BDE-5B3D-152A-C310AB4C742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7495F9E-5CD9-886B-6292-274886B7CB4E}"/>
              </a:ext>
            </a:extLst>
          </p:cNvPr>
          <p:cNvSpPr/>
          <p:nvPr/>
        </p:nvSpPr>
        <p:spPr>
          <a:xfrm>
            <a:off x="0" y="2708009"/>
            <a:ext cx="12189617" cy="1057481"/>
          </a:xfrm>
          <a:prstGeom prst="rect">
            <a:avLst/>
          </a:prstGeom>
          <a:solidFill>
            <a:schemeClr val="bg1">
              <a:lumMod val="95000"/>
              <a:lumOff val="5000"/>
            </a:schemeClr>
          </a:solidFill>
          <a:effectLst>
            <a:outerShdw blurRad="952500">
              <a:srgbClr val="00000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04C69F-CA6F-ECE5-25CD-AFA2305776AD}"/>
              </a:ext>
            </a:extLst>
          </p:cNvPr>
          <p:cNvSpPr>
            <a:spLocks noGrp="1"/>
          </p:cNvSpPr>
          <p:nvPr>
            <p:ph type="title"/>
          </p:nvPr>
        </p:nvSpPr>
        <p:spPr>
          <a:xfrm>
            <a:off x="2922416" y="2957340"/>
            <a:ext cx="7269377" cy="1141200"/>
          </a:xfrm>
        </p:spPr>
        <p:txBody>
          <a:bodyPr>
            <a:normAutofit/>
          </a:bodyPr>
          <a:lstStyle/>
          <a:p>
            <a:r>
              <a:rPr lang="en-US" sz="4300" b="1" i="0" dirty="0">
                <a:solidFill>
                  <a:schemeClr val="tx1"/>
                </a:solidFill>
                <a:ea typeface="Source Sans Pro Light"/>
              </a:rPr>
              <a:t>EXPERIMENT SECTION</a:t>
            </a:r>
          </a:p>
        </p:txBody>
      </p:sp>
      <p:pic>
        <p:nvPicPr>
          <p:cNvPr id="3" name="Picture 2">
            <a:extLst>
              <a:ext uri="{FF2B5EF4-FFF2-40B4-BE49-F238E27FC236}">
                <a16:creationId xmlns:a16="http://schemas.microsoft.com/office/drawing/2014/main" id="{7C91292F-044A-2E2D-4AC3-B9DD083AC666}"/>
              </a:ext>
            </a:extLst>
          </p:cNvPr>
          <p:cNvPicPr>
            <a:picLocks noChangeAspect="1"/>
          </p:cNvPicPr>
          <p:nvPr/>
        </p:nvPicPr>
        <p:blipFill>
          <a:blip r:embed="rId2"/>
          <a:stretch>
            <a:fillRect/>
          </a:stretch>
        </p:blipFill>
        <p:spPr>
          <a:xfrm>
            <a:off x="7904251" y="2771453"/>
            <a:ext cx="929813" cy="938374"/>
          </a:xfrm>
          <a:prstGeom prst="rect">
            <a:avLst/>
          </a:prstGeom>
        </p:spPr>
      </p:pic>
    </p:spTree>
    <p:extLst>
      <p:ext uri="{BB962C8B-B14F-4D97-AF65-F5344CB8AC3E}">
        <p14:creationId xmlns:p14="http://schemas.microsoft.com/office/powerpoint/2010/main" val="3834128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6A242-B88B-FF94-0D37-03C4DC26B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17056-2C9F-7D04-06EE-0A1E9EB0CA07}"/>
              </a:ext>
            </a:extLst>
          </p:cNvPr>
          <p:cNvSpPr>
            <a:spLocks noGrp="1"/>
          </p:cNvSpPr>
          <p:nvPr>
            <p:ph type="title"/>
          </p:nvPr>
        </p:nvSpPr>
        <p:spPr>
          <a:xfrm>
            <a:off x="148394" y="243250"/>
            <a:ext cx="7269377" cy="1141200"/>
          </a:xfrm>
        </p:spPr>
        <p:txBody>
          <a:bodyPr>
            <a:normAutofit/>
          </a:bodyPr>
          <a:lstStyle/>
          <a:p>
            <a:r>
              <a:rPr lang="en-US" sz="4400" b="1" i="0" dirty="0">
                <a:solidFill>
                  <a:schemeClr val="tx1"/>
                </a:solidFill>
                <a:latin typeface="Calibri"/>
                <a:ea typeface="Calibri"/>
                <a:cs typeface="Calibri"/>
              </a:rPr>
              <a:t>Architecture Overview:</a:t>
            </a:r>
            <a:endParaRPr lang="en-US" b="1" dirty="0">
              <a:solidFill>
                <a:schemeClr val="tx1"/>
              </a:solidFill>
              <a:ea typeface="Source Sans Pro Light"/>
            </a:endParaRPr>
          </a:p>
        </p:txBody>
      </p:sp>
      <p:sp>
        <p:nvSpPr>
          <p:cNvPr id="5" name="TextBox 4">
            <a:extLst>
              <a:ext uri="{FF2B5EF4-FFF2-40B4-BE49-F238E27FC236}">
                <a16:creationId xmlns:a16="http://schemas.microsoft.com/office/drawing/2014/main" id="{A319D483-E0A0-B071-9E1C-0FF0DBAAD341}"/>
              </a:ext>
            </a:extLst>
          </p:cNvPr>
          <p:cNvSpPr txBox="1"/>
          <p:nvPr/>
        </p:nvSpPr>
        <p:spPr>
          <a:xfrm>
            <a:off x="148700" y="1261369"/>
            <a:ext cx="7148081" cy="43273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
              <a:buChar char="•"/>
            </a:pPr>
            <a:r>
              <a:rPr lang="en-US" sz="3200" dirty="0">
                <a:latin typeface="Calibri"/>
                <a:ea typeface="Calibri"/>
                <a:cs typeface="Calibri"/>
              </a:rPr>
              <a:t>- Four containers: Client, DNS Server, Attacker, Root DNS</a:t>
            </a:r>
          </a:p>
          <a:p>
            <a:pPr marL="285750" indent="-285750">
              <a:spcBef>
                <a:spcPct val="20000"/>
              </a:spcBef>
              <a:buFont typeface="Arial"/>
              <a:buChar char="•"/>
            </a:pPr>
            <a:r>
              <a:rPr lang="en-US" sz="3200" dirty="0">
                <a:latin typeface="Calibri"/>
                <a:ea typeface="Calibri"/>
                <a:cs typeface="Calibri"/>
              </a:rPr>
              <a:t>- All connected on custom Docker network</a:t>
            </a:r>
          </a:p>
          <a:p>
            <a:pPr marL="285750" indent="-285750">
              <a:spcBef>
                <a:spcPct val="20000"/>
              </a:spcBef>
              <a:buFont typeface="Arial"/>
              <a:buChar char="•"/>
            </a:pPr>
            <a:r>
              <a:rPr lang="en-US" sz="3200" dirty="0">
                <a:latin typeface="Calibri"/>
                <a:ea typeface="Calibri"/>
                <a:cs typeface="Calibri"/>
              </a:rPr>
              <a:t>- Controlled IP assignments for deterministic routing</a:t>
            </a:r>
          </a:p>
          <a:p>
            <a:pPr marL="285750" indent="-285750">
              <a:spcBef>
                <a:spcPct val="20000"/>
              </a:spcBef>
              <a:buFont typeface="Arial"/>
              <a:buChar char="•"/>
            </a:pPr>
            <a:r>
              <a:rPr lang="en-US" sz="3200" dirty="0">
                <a:latin typeface="Calibri"/>
                <a:ea typeface="Calibri"/>
                <a:cs typeface="Calibri"/>
              </a:rPr>
              <a:t>- Python-based DNS resolver and attack scripts</a:t>
            </a:r>
            <a:endParaRPr lang="en-US" dirty="0"/>
          </a:p>
        </p:txBody>
      </p:sp>
    </p:spTree>
    <p:extLst>
      <p:ext uri="{BB962C8B-B14F-4D97-AF65-F5344CB8AC3E}">
        <p14:creationId xmlns:p14="http://schemas.microsoft.com/office/powerpoint/2010/main" val="113845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6BD45-0D5D-D972-416D-04E4F4E818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AFB4F8-F5AB-6E02-9742-F73B133D1D56}"/>
              </a:ext>
            </a:extLst>
          </p:cNvPr>
          <p:cNvSpPr>
            <a:spLocks noGrp="1"/>
          </p:cNvSpPr>
          <p:nvPr>
            <p:ph type="title"/>
          </p:nvPr>
        </p:nvSpPr>
        <p:spPr>
          <a:xfrm>
            <a:off x="-348190" y="226126"/>
            <a:ext cx="7269377" cy="1141200"/>
          </a:xfrm>
        </p:spPr>
        <p:txBody>
          <a:bodyPr>
            <a:normAutofit/>
          </a:bodyPr>
          <a:lstStyle/>
          <a:p>
            <a:pPr algn="ctr"/>
            <a:r>
              <a:rPr lang="en-US" sz="4400" b="1" i="0" dirty="0">
                <a:solidFill>
                  <a:schemeClr val="tx1"/>
                </a:solidFill>
                <a:latin typeface="Calibri"/>
                <a:ea typeface="Calibri"/>
                <a:cs typeface="Calibri"/>
              </a:rPr>
              <a:t>Docker Compose Structure:</a:t>
            </a:r>
          </a:p>
          <a:p>
            <a:endParaRPr lang="en-US" sz="4400" i="0" dirty="0">
              <a:solidFill>
                <a:schemeClr val="tx1"/>
              </a:solidFill>
              <a:latin typeface="Calibri"/>
              <a:ea typeface="Calibri"/>
              <a:cs typeface="Calibri"/>
            </a:endParaRPr>
          </a:p>
        </p:txBody>
      </p:sp>
      <p:sp>
        <p:nvSpPr>
          <p:cNvPr id="5" name="TextBox 4">
            <a:extLst>
              <a:ext uri="{FF2B5EF4-FFF2-40B4-BE49-F238E27FC236}">
                <a16:creationId xmlns:a16="http://schemas.microsoft.com/office/drawing/2014/main" id="{5878CE56-872A-6BE4-43F6-01A246FB6FB1}"/>
              </a:ext>
            </a:extLst>
          </p:cNvPr>
          <p:cNvSpPr txBox="1"/>
          <p:nvPr/>
        </p:nvSpPr>
        <p:spPr>
          <a:xfrm>
            <a:off x="148700" y="1261369"/>
            <a:ext cx="7148081" cy="54476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
              <a:buChar char="•"/>
            </a:pPr>
            <a:r>
              <a:rPr lang="en-US" sz="3000" dirty="0">
                <a:latin typeface="Calibri"/>
                <a:ea typeface="Calibri"/>
                <a:cs typeface="Calibri"/>
              </a:rPr>
              <a:t>Services:</a:t>
            </a:r>
          </a:p>
          <a:p>
            <a:pPr>
              <a:spcBef>
                <a:spcPct val="20000"/>
              </a:spcBef>
            </a:pPr>
            <a:r>
              <a:rPr lang="en-US" sz="3000" dirty="0">
                <a:latin typeface="Calibri"/>
                <a:ea typeface="Calibri"/>
                <a:cs typeface="Calibri"/>
              </a:rPr>
              <a:t> • </a:t>
            </a:r>
            <a:r>
              <a:rPr lang="en-US" sz="3000" err="1">
                <a:latin typeface="Calibri"/>
                <a:ea typeface="Calibri"/>
                <a:cs typeface="Calibri"/>
              </a:rPr>
              <a:t>dns</a:t>
            </a:r>
            <a:r>
              <a:rPr lang="en-US" sz="3000" dirty="0">
                <a:latin typeface="Calibri"/>
                <a:ea typeface="Calibri"/>
                <a:cs typeface="Calibri"/>
              </a:rPr>
              <a:t>: resolver</a:t>
            </a:r>
          </a:p>
          <a:p>
            <a:pPr>
              <a:spcBef>
                <a:spcPct val="20000"/>
              </a:spcBef>
            </a:pPr>
            <a:r>
              <a:rPr lang="en-US" sz="3000" dirty="0">
                <a:latin typeface="Calibri"/>
                <a:ea typeface="Calibri"/>
                <a:cs typeface="Calibri"/>
              </a:rPr>
              <a:t> • client: victim DNS requester</a:t>
            </a:r>
          </a:p>
          <a:p>
            <a:pPr>
              <a:spcBef>
                <a:spcPct val="20000"/>
              </a:spcBef>
            </a:pPr>
            <a:r>
              <a:rPr lang="en-US" sz="3000" dirty="0">
                <a:latin typeface="Calibri"/>
                <a:ea typeface="Calibri"/>
                <a:cs typeface="Calibri"/>
              </a:rPr>
              <a:t> • attacker: sends spoofed replies</a:t>
            </a:r>
          </a:p>
          <a:p>
            <a:pPr>
              <a:spcBef>
                <a:spcPct val="20000"/>
              </a:spcBef>
            </a:pPr>
            <a:r>
              <a:rPr lang="en-US" sz="3000" dirty="0">
                <a:latin typeface="Calibri"/>
                <a:ea typeface="Calibri"/>
                <a:cs typeface="Calibri"/>
              </a:rPr>
              <a:t> • </a:t>
            </a:r>
            <a:r>
              <a:rPr lang="en-US" sz="3000" err="1">
                <a:latin typeface="Calibri"/>
                <a:ea typeface="Calibri"/>
                <a:cs typeface="Calibri"/>
              </a:rPr>
              <a:t>root_dns</a:t>
            </a:r>
            <a:r>
              <a:rPr lang="en-US" sz="3000" dirty="0">
                <a:latin typeface="Calibri"/>
                <a:ea typeface="Calibri"/>
                <a:cs typeface="Calibri"/>
              </a:rPr>
              <a:t>: authoritative server</a:t>
            </a:r>
          </a:p>
          <a:p>
            <a:pPr marL="285750" indent="-285750">
              <a:spcBef>
                <a:spcPct val="20000"/>
              </a:spcBef>
              <a:buFont typeface="Arial"/>
              <a:buChar char="•"/>
            </a:pPr>
            <a:endParaRPr lang="en-US" sz="3000" dirty="0">
              <a:latin typeface="Calibri"/>
              <a:ea typeface="Calibri"/>
              <a:cs typeface="Calibri"/>
            </a:endParaRPr>
          </a:p>
          <a:p>
            <a:pPr marL="285750" indent="-285750">
              <a:spcBef>
                <a:spcPct val="20000"/>
              </a:spcBef>
              <a:buFont typeface="Arial"/>
              <a:buChar char="•"/>
            </a:pPr>
            <a:r>
              <a:rPr lang="en-US" sz="3000" dirty="0">
                <a:latin typeface="Calibri"/>
                <a:ea typeface="Calibri"/>
                <a:cs typeface="Calibri"/>
              </a:rPr>
              <a:t>Network:</a:t>
            </a:r>
          </a:p>
          <a:p>
            <a:pPr>
              <a:spcBef>
                <a:spcPct val="20000"/>
              </a:spcBef>
            </a:pPr>
            <a:r>
              <a:rPr lang="en-US" sz="3000" dirty="0">
                <a:latin typeface="Calibri"/>
                <a:ea typeface="Calibri"/>
                <a:cs typeface="Calibri"/>
              </a:rPr>
              <a:t> • Subnet 192.168.100.0/28</a:t>
            </a:r>
          </a:p>
          <a:p>
            <a:pPr>
              <a:spcBef>
                <a:spcPct val="20000"/>
              </a:spcBef>
            </a:pPr>
            <a:r>
              <a:rPr lang="en-US" sz="3000" dirty="0">
                <a:latin typeface="Calibri"/>
                <a:ea typeface="Calibri"/>
                <a:cs typeface="Calibri"/>
              </a:rPr>
              <a:t> • Static IPs to ensure predictable     communication</a:t>
            </a:r>
            <a:endParaRPr lang="en-US" dirty="0">
              <a:ea typeface="Source Sans Pro"/>
            </a:endParaRPr>
          </a:p>
        </p:txBody>
      </p:sp>
    </p:spTree>
    <p:extLst>
      <p:ext uri="{BB962C8B-B14F-4D97-AF65-F5344CB8AC3E}">
        <p14:creationId xmlns:p14="http://schemas.microsoft.com/office/powerpoint/2010/main" val="2579147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4E85C-178D-249D-CEE9-C99828E82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BBBAD-4871-F114-47F4-C2C2E818EB96}"/>
              </a:ext>
            </a:extLst>
          </p:cNvPr>
          <p:cNvSpPr>
            <a:spLocks noGrp="1"/>
          </p:cNvSpPr>
          <p:nvPr>
            <p:ph type="title"/>
          </p:nvPr>
        </p:nvSpPr>
        <p:spPr>
          <a:xfrm>
            <a:off x="-1581089" y="226126"/>
            <a:ext cx="7269377" cy="1141200"/>
          </a:xfrm>
        </p:spPr>
        <p:txBody>
          <a:bodyPr>
            <a:normAutofit/>
          </a:bodyPr>
          <a:lstStyle/>
          <a:p>
            <a:pPr algn="ctr"/>
            <a:r>
              <a:rPr lang="en-US" sz="4400" b="1" i="0" dirty="0">
                <a:solidFill>
                  <a:schemeClr val="tx1"/>
                </a:solidFill>
                <a:latin typeface="Calibri"/>
                <a:ea typeface="Calibri"/>
                <a:cs typeface="Calibri"/>
              </a:rPr>
              <a:t>Network Layout:</a:t>
            </a:r>
          </a:p>
          <a:p>
            <a:pPr algn="ctr"/>
            <a:endParaRPr lang="en-US" sz="4400" i="0" dirty="0">
              <a:solidFill>
                <a:schemeClr val="tx1"/>
              </a:solidFill>
              <a:latin typeface="Calibri"/>
              <a:ea typeface="Calibri"/>
              <a:cs typeface="Calibri"/>
            </a:endParaRPr>
          </a:p>
          <a:p>
            <a:endParaRPr lang="en-US" sz="4400" i="0" dirty="0">
              <a:solidFill>
                <a:schemeClr val="tx1"/>
              </a:solidFill>
              <a:latin typeface="Calibri"/>
              <a:ea typeface="Calibri"/>
              <a:cs typeface="Calibri"/>
            </a:endParaRPr>
          </a:p>
        </p:txBody>
      </p:sp>
      <p:sp>
        <p:nvSpPr>
          <p:cNvPr id="5" name="TextBox 4">
            <a:extLst>
              <a:ext uri="{FF2B5EF4-FFF2-40B4-BE49-F238E27FC236}">
                <a16:creationId xmlns:a16="http://schemas.microsoft.com/office/drawing/2014/main" id="{6B26FFB3-4AB7-63BB-FBC4-716D54E4E710}"/>
              </a:ext>
            </a:extLst>
          </p:cNvPr>
          <p:cNvSpPr txBox="1"/>
          <p:nvPr/>
        </p:nvSpPr>
        <p:spPr>
          <a:xfrm>
            <a:off x="148700" y="1483976"/>
            <a:ext cx="7148081"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
              <a:buChar char="•"/>
            </a:pPr>
            <a:r>
              <a:rPr lang="en-US" sz="3200" dirty="0">
                <a:latin typeface="Calibri"/>
                <a:ea typeface="Calibri"/>
                <a:cs typeface="Calibri"/>
              </a:rPr>
              <a:t>192.168.100.2 – </a:t>
            </a:r>
            <a:r>
              <a:rPr lang="en-US" sz="3200" err="1">
                <a:latin typeface="Calibri"/>
                <a:ea typeface="Calibri"/>
                <a:cs typeface="Calibri"/>
              </a:rPr>
              <a:t>dns</a:t>
            </a:r>
            <a:endParaRPr lang="en-US" sz="3200">
              <a:latin typeface="Calibri"/>
              <a:ea typeface="Calibri"/>
              <a:cs typeface="Calibri"/>
            </a:endParaRPr>
          </a:p>
          <a:p>
            <a:pPr marL="285750" indent="-285750">
              <a:spcBef>
                <a:spcPct val="20000"/>
              </a:spcBef>
              <a:buFont typeface="Arial"/>
              <a:buChar char="•"/>
            </a:pPr>
            <a:r>
              <a:rPr lang="en-US" sz="3200" dirty="0">
                <a:latin typeface="Calibri"/>
                <a:ea typeface="Calibri"/>
                <a:cs typeface="Calibri"/>
              </a:rPr>
              <a:t>192.168.100.3 – client</a:t>
            </a:r>
          </a:p>
          <a:p>
            <a:pPr marL="285750" indent="-285750">
              <a:spcBef>
                <a:spcPct val="20000"/>
              </a:spcBef>
              <a:buFont typeface="Arial"/>
              <a:buChar char="•"/>
            </a:pPr>
            <a:r>
              <a:rPr lang="en-US" sz="3200" dirty="0">
                <a:latin typeface="Calibri"/>
                <a:ea typeface="Calibri"/>
                <a:cs typeface="Calibri"/>
              </a:rPr>
              <a:t>192.168.100.4 – attacker</a:t>
            </a:r>
          </a:p>
          <a:p>
            <a:pPr marL="285750" indent="-285750">
              <a:spcBef>
                <a:spcPct val="20000"/>
              </a:spcBef>
              <a:buFont typeface="Arial"/>
              <a:buChar char="•"/>
            </a:pPr>
            <a:r>
              <a:rPr lang="en-US" sz="3200" dirty="0">
                <a:latin typeface="Calibri"/>
                <a:ea typeface="Calibri"/>
                <a:cs typeface="Calibri"/>
              </a:rPr>
              <a:t>192.168.100.5 – </a:t>
            </a:r>
            <a:r>
              <a:rPr lang="en-US" sz="3200" err="1">
                <a:latin typeface="Calibri"/>
                <a:ea typeface="Calibri"/>
                <a:cs typeface="Calibri"/>
              </a:rPr>
              <a:t>root_dns</a:t>
            </a:r>
            <a:endParaRPr lang="en-US" sz="3200">
              <a:latin typeface="Calibri"/>
              <a:ea typeface="Calibri"/>
              <a:cs typeface="Calibri"/>
            </a:endParaRPr>
          </a:p>
          <a:p>
            <a:pPr marL="285750" indent="-285750">
              <a:spcBef>
                <a:spcPct val="20000"/>
              </a:spcBef>
              <a:buFont typeface="Arial"/>
              <a:buChar char="•"/>
            </a:pPr>
            <a:endParaRPr lang="en-US" sz="3200" dirty="0">
              <a:latin typeface="Calibri"/>
              <a:ea typeface="Calibri"/>
              <a:cs typeface="Calibri"/>
            </a:endParaRPr>
          </a:p>
          <a:p>
            <a:pPr marL="285750" indent="-285750">
              <a:spcBef>
                <a:spcPct val="20000"/>
              </a:spcBef>
              <a:buFont typeface="Arial"/>
              <a:buChar char="•"/>
            </a:pPr>
            <a:r>
              <a:rPr lang="en-US" sz="3200" dirty="0">
                <a:latin typeface="Calibri"/>
                <a:ea typeface="Calibri"/>
                <a:cs typeface="Calibri"/>
              </a:rPr>
              <a:t>Simple flat network for attack demonstration.</a:t>
            </a:r>
            <a:endParaRPr lang="en-US" dirty="0"/>
          </a:p>
        </p:txBody>
      </p:sp>
    </p:spTree>
    <p:extLst>
      <p:ext uri="{BB962C8B-B14F-4D97-AF65-F5344CB8AC3E}">
        <p14:creationId xmlns:p14="http://schemas.microsoft.com/office/powerpoint/2010/main" val="481435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E3166-2A4C-86EB-E043-370B30F4CF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2257D-C96E-91B4-B689-4A39A2202E9F}"/>
              </a:ext>
            </a:extLst>
          </p:cNvPr>
          <p:cNvSpPr>
            <a:spLocks noGrp="1"/>
          </p:cNvSpPr>
          <p:nvPr>
            <p:ph type="title"/>
          </p:nvPr>
        </p:nvSpPr>
        <p:spPr>
          <a:xfrm>
            <a:off x="-2060550" y="268935"/>
            <a:ext cx="7269377" cy="1141200"/>
          </a:xfrm>
        </p:spPr>
        <p:txBody>
          <a:bodyPr>
            <a:normAutofit/>
          </a:bodyPr>
          <a:lstStyle/>
          <a:p>
            <a:pPr algn="ctr"/>
            <a:r>
              <a:rPr lang="en-US" sz="4400" b="1" i="0" dirty="0">
                <a:solidFill>
                  <a:schemeClr val="tx1"/>
                </a:solidFill>
                <a:latin typeface="Calibri"/>
                <a:ea typeface="Calibri"/>
                <a:cs typeface="Calibri"/>
              </a:rPr>
              <a:t>Attack Flow:</a:t>
            </a:r>
          </a:p>
          <a:p>
            <a:pPr algn="ctr"/>
            <a:endParaRPr lang="en-US" sz="4400" i="0" dirty="0">
              <a:solidFill>
                <a:schemeClr val="tx1"/>
              </a:solidFill>
              <a:latin typeface="Calibri"/>
              <a:ea typeface="Calibri"/>
              <a:cs typeface="Calibri"/>
            </a:endParaRPr>
          </a:p>
          <a:p>
            <a:pPr algn="ctr"/>
            <a:endParaRPr lang="en-US" sz="4400" i="0" dirty="0">
              <a:solidFill>
                <a:schemeClr val="tx1"/>
              </a:solidFill>
              <a:latin typeface="Calibri"/>
              <a:ea typeface="Calibri"/>
              <a:cs typeface="Calibri"/>
            </a:endParaRPr>
          </a:p>
          <a:p>
            <a:endParaRPr lang="en-US" sz="4400" i="0" dirty="0">
              <a:solidFill>
                <a:schemeClr val="tx1"/>
              </a:solidFill>
              <a:latin typeface="Calibri"/>
              <a:ea typeface="Calibri"/>
              <a:cs typeface="Calibri"/>
            </a:endParaRPr>
          </a:p>
        </p:txBody>
      </p:sp>
      <p:sp>
        <p:nvSpPr>
          <p:cNvPr id="5" name="TextBox 4">
            <a:extLst>
              <a:ext uri="{FF2B5EF4-FFF2-40B4-BE49-F238E27FC236}">
                <a16:creationId xmlns:a16="http://schemas.microsoft.com/office/drawing/2014/main" id="{87FDB54D-7108-153E-63B7-FDE685DB1571}"/>
              </a:ext>
            </a:extLst>
          </p:cNvPr>
          <p:cNvSpPr txBox="1"/>
          <p:nvPr/>
        </p:nvSpPr>
        <p:spPr>
          <a:xfrm>
            <a:off x="88767" y="1835010"/>
            <a:ext cx="7148081" cy="344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
              <a:buChar char="•"/>
            </a:pPr>
            <a:r>
              <a:rPr lang="en-US" sz="3200" dirty="0">
                <a:latin typeface="Calibri"/>
                <a:ea typeface="Calibri"/>
                <a:cs typeface="Calibri"/>
              </a:rPr>
              <a:t>1. Client sends DNS query to resolver.</a:t>
            </a:r>
          </a:p>
          <a:p>
            <a:pPr marL="285750" indent="-285750">
              <a:spcBef>
                <a:spcPct val="20000"/>
              </a:spcBef>
              <a:buFont typeface="Arial"/>
              <a:buChar char="•"/>
            </a:pPr>
            <a:r>
              <a:rPr lang="en-US" sz="3200" dirty="0">
                <a:latin typeface="Calibri"/>
                <a:ea typeface="Calibri"/>
                <a:cs typeface="Calibri"/>
              </a:rPr>
              <a:t>2. Resolver queries </a:t>
            </a:r>
            <a:r>
              <a:rPr lang="en-US" sz="3200" dirty="0" err="1">
                <a:latin typeface="Calibri"/>
                <a:ea typeface="Calibri"/>
                <a:cs typeface="Calibri"/>
              </a:rPr>
              <a:t>root_dns</a:t>
            </a:r>
            <a:r>
              <a:rPr lang="en-US" sz="3200" dirty="0">
                <a:latin typeface="Calibri"/>
                <a:ea typeface="Calibri"/>
                <a:cs typeface="Calibri"/>
              </a:rPr>
              <a:t>.</a:t>
            </a:r>
          </a:p>
          <a:p>
            <a:pPr marL="285750" indent="-285750">
              <a:spcBef>
                <a:spcPct val="20000"/>
              </a:spcBef>
              <a:buFont typeface="Arial"/>
              <a:buChar char="•"/>
            </a:pPr>
            <a:r>
              <a:rPr lang="en-US" sz="3200" dirty="0">
                <a:latin typeface="Calibri"/>
                <a:ea typeface="Calibri"/>
                <a:cs typeface="Calibri"/>
              </a:rPr>
              <a:t>3. Attacker floods resolver with forged replies.</a:t>
            </a:r>
          </a:p>
          <a:p>
            <a:pPr marL="285750" indent="-285750">
              <a:spcBef>
                <a:spcPct val="20000"/>
              </a:spcBef>
              <a:buFont typeface="Arial"/>
              <a:buChar char="•"/>
            </a:pPr>
            <a:r>
              <a:rPr lang="en-US" sz="3200" dirty="0">
                <a:latin typeface="Calibri"/>
                <a:ea typeface="Calibri"/>
                <a:cs typeface="Calibri"/>
              </a:rPr>
              <a:t>4. Resolver accepts malicious answer.</a:t>
            </a:r>
          </a:p>
          <a:p>
            <a:pPr marL="285750" indent="-285750">
              <a:spcBef>
                <a:spcPct val="20000"/>
              </a:spcBef>
              <a:buFont typeface="Arial"/>
              <a:buChar char="•"/>
            </a:pPr>
            <a:r>
              <a:rPr lang="en-US" sz="3200" dirty="0">
                <a:latin typeface="Calibri"/>
                <a:ea typeface="Calibri"/>
                <a:cs typeface="Calibri"/>
              </a:rPr>
              <a:t>5. Client receives poisoned DNS record.</a:t>
            </a:r>
            <a:endParaRPr lang="en-US" dirty="0"/>
          </a:p>
        </p:txBody>
      </p:sp>
    </p:spTree>
    <p:extLst>
      <p:ext uri="{BB962C8B-B14F-4D97-AF65-F5344CB8AC3E}">
        <p14:creationId xmlns:p14="http://schemas.microsoft.com/office/powerpoint/2010/main" val="2721932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FDB13-B5B8-3CE4-C439-F92CE0D48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CC2C7-3D70-DA29-5B14-CE5FEAD2D132}"/>
              </a:ext>
            </a:extLst>
          </p:cNvPr>
          <p:cNvSpPr>
            <a:spLocks noGrp="1"/>
          </p:cNvSpPr>
          <p:nvPr>
            <p:ph type="title"/>
          </p:nvPr>
        </p:nvSpPr>
        <p:spPr>
          <a:xfrm>
            <a:off x="-921831" y="260373"/>
            <a:ext cx="7269377" cy="1141200"/>
          </a:xfrm>
        </p:spPr>
        <p:txBody>
          <a:bodyPr>
            <a:normAutofit/>
          </a:bodyPr>
          <a:lstStyle/>
          <a:p>
            <a:pPr algn="ctr"/>
            <a:r>
              <a:rPr lang="en-US" sz="4400" b="1" i="0" dirty="0">
                <a:solidFill>
                  <a:schemeClr val="tx1"/>
                </a:solidFill>
                <a:latin typeface="Calibri"/>
                <a:ea typeface="Calibri"/>
                <a:cs typeface="Calibri"/>
              </a:rPr>
              <a:t>Demonstration Steps:</a:t>
            </a:r>
          </a:p>
          <a:p>
            <a:pPr algn="ctr"/>
            <a:endParaRPr lang="en-US" sz="4400" b="1" i="0" dirty="0">
              <a:solidFill>
                <a:schemeClr val="tx1"/>
              </a:solidFill>
              <a:latin typeface="Calibri"/>
              <a:ea typeface="Calibri"/>
              <a:cs typeface="Calibri"/>
            </a:endParaRPr>
          </a:p>
          <a:p>
            <a:pPr algn="ctr"/>
            <a:endParaRPr lang="en-US" sz="4400" i="0" dirty="0">
              <a:solidFill>
                <a:schemeClr val="tx1"/>
              </a:solidFill>
              <a:latin typeface="Calibri"/>
              <a:ea typeface="Calibri"/>
              <a:cs typeface="Calibri"/>
            </a:endParaRPr>
          </a:p>
          <a:p>
            <a:pPr algn="ctr"/>
            <a:endParaRPr lang="en-US" sz="4400" i="0" dirty="0">
              <a:solidFill>
                <a:schemeClr val="tx1"/>
              </a:solidFill>
              <a:latin typeface="Calibri"/>
              <a:ea typeface="Calibri"/>
              <a:cs typeface="Calibri"/>
            </a:endParaRPr>
          </a:p>
          <a:p>
            <a:endParaRPr lang="en-US" sz="4400" i="0" dirty="0">
              <a:solidFill>
                <a:schemeClr val="tx1"/>
              </a:solidFill>
              <a:latin typeface="Calibri"/>
              <a:ea typeface="Calibri"/>
              <a:cs typeface="Calibri"/>
            </a:endParaRPr>
          </a:p>
        </p:txBody>
      </p:sp>
      <p:sp>
        <p:nvSpPr>
          <p:cNvPr id="5" name="TextBox 4">
            <a:extLst>
              <a:ext uri="{FF2B5EF4-FFF2-40B4-BE49-F238E27FC236}">
                <a16:creationId xmlns:a16="http://schemas.microsoft.com/office/drawing/2014/main" id="{1183AFEF-14B1-B034-8756-39AB15DFE4A6}"/>
              </a:ext>
            </a:extLst>
          </p:cNvPr>
          <p:cNvSpPr txBox="1"/>
          <p:nvPr/>
        </p:nvSpPr>
        <p:spPr>
          <a:xfrm>
            <a:off x="88767" y="1835010"/>
            <a:ext cx="7148081" cy="23575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
              <a:buChar char="•"/>
            </a:pPr>
            <a:r>
              <a:rPr lang="en-US" sz="3200">
                <a:latin typeface="Calibri"/>
                <a:ea typeface="Calibri"/>
                <a:cs typeface="Calibri"/>
              </a:rPr>
              <a:t>1. docker-compose build</a:t>
            </a:r>
          </a:p>
          <a:p>
            <a:pPr marL="285750" indent="-285750">
              <a:spcBef>
                <a:spcPct val="20000"/>
              </a:spcBef>
              <a:buFont typeface="Arial"/>
              <a:buChar char="•"/>
            </a:pPr>
            <a:r>
              <a:rPr lang="en-US" sz="3200">
                <a:latin typeface="Calibri"/>
                <a:ea typeface="Calibri"/>
                <a:cs typeface="Calibri"/>
              </a:rPr>
              <a:t>2. docker-compose up</a:t>
            </a:r>
          </a:p>
          <a:p>
            <a:pPr marL="285750" indent="-285750">
              <a:spcBef>
                <a:spcPct val="20000"/>
              </a:spcBef>
              <a:buFont typeface="Arial"/>
              <a:buChar char="•"/>
            </a:pPr>
            <a:r>
              <a:rPr lang="en-US" sz="3200">
                <a:latin typeface="Calibri"/>
                <a:ea typeface="Calibri"/>
                <a:cs typeface="Calibri"/>
              </a:rPr>
              <a:t>2. From attacker: Run attacker.py</a:t>
            </a:r>
          </a:p>
          <a:p>
            <a:pPr marL="285750" indent="-285750">
              <a:spcBef>
                <a:spcPct val="20000"/>
              </a:spcBef>
              <a:buFont typeface="Arial"/>
              <a:buChar char="•"/>
            </a:pPr>
            <a:r>
              <a:rPr lang="en-US" sz="3200">
                <a:latin typeface="Calibri"/>
                <a:ea typeface="Calibri"/>
                <a:cs typeface="Calibri"/>
              </a:rPr>
              <a:t>3. From client: dig @dns google.com</a:t>
            </a:r>
            <a:endParaRPr lang="en-US"/>
          </a:p>
        </p:txBody>
      </p:sp>
    </p:spTree>
    <p:extLst>
      <p:ext uri="{BB962C8B-B14F-4D97-AF65-F5344CB8AC3E}">
        <p14:creationId xmlns:p14="http://schemas.microsoft.com/office/powerpoint/2010/main" val="3007417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ED31A-091B-B4B5-950B-418CB05897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46753-E4E5-F8A3-4FE2-E37188E4030F}"/>
              </a:ext>
            </a:extLst>
          </p:cNvPr>
          <p:cNvSpPr>
            <a:spLocks noGrp="1"/>
          </p:cNvSpPr>
          <p:nvPr>
            <p:ph type="title"/>
          </p:nvPr>
        </p:nvSpPr>
        <p:spPr>
          <a:xfrm>
            <a:off x="448056" y="281338"/>
            <a:ext cx="11301984" cy="1141200"/>
          </a:xfrm>
        </p:spPr>
        <p:txBody>
          <a:bodyPr/>
          <a:lstStyle/>
          <a:p>
            <a:r>
              <a:rPr lang="en-US" sz="4300" b="1" i="0" dirty="0">
                <a:latin typeface="Source Sans Pro"/>
                <a:ea typeface="Source Sans Pro Light"/>
              </a:rPr>
              <a:t>Network diagram:</a:t>
            </a:r>
            <a:endParaRPr lang="en-US" sz="4300" b="1" i="0" dirty="0" err="1">
              <a:latin typeface="Source Sans Pro"/>
            </a:endParaRPr>
          </a:p>
        </p:txBody>
      </p:sp>
      <p:pic>
        <p:nvPicPr>
          <p:cNvPr id="3" name="Picture 2">
            <a:extLst>
              <a:ext uri="{FF2B5EF4-FFF2-40B4-BE49-F238E27FC236}">
                <a16:creationId xmlns:a16="http://schemas.microsoft.com/office/drawing/2014/main" id="{D88C214D-579F-55CA-13D5-B52DBDBA4E64}"/>
              </a:ext>
            </a:extLst>
          </p:cNvPr>
          <p:cNvPicPr>
            <a:picLocks noChangeAspect="1"/>
          </p:cNvPicPr>
          <p:nvPr/>
        </p:nvPicPr>
        <p:blipFill>
          <a:blip r:embed="rId2"/>
          <a:stretch>
            <a:fillRect/>
          </a:stretch>
        </p:blipFill>
        <p:spPr>
          <a:xfrm>
            <a:off x="447907" y="1101300"/>
            <a:ext cx="9753600" cy="5324475"/>
          </a:xfrm>
          <a:prstGeom prst="rect">
            <a:avLst/>
          </a:prstGeom>
        </p:spPr>
      </p:pic>
    </p:spTree>
    <p:extLst>
      <p:ext uri="{BB962C8B-B14F-4D97-AF65-F5344CB8AC3E}">
        <p14:creationId xmlns:p14="http://schemas.microsoft.com/office/powerpoint/2010/main" val="1141126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33E749-3AE3-6AC3-8FB6-6B7F477E8A04}"/>
              </a:ext>
            </a:extLst>
          </p:cNvPr>
          <p:cNvPicPr>
            <a:picLocks noChangeAspect="1"/>
          </p:cNvPicPr>
          <p:nvPr/>
        </p:nvPicPr>
        <p:blipFill>
          <a:blip r:embed="rId2"/>
          <a:stretch>
            <a:fillRect/>
          </a:stretch>
        </p:blipFill>
        <p:spPr>
          <a:xfrm>
            <a:off x="307102" y="1176444"/>
            <a:ext cx="7656494" cy="3982841"/>
          </a:xfrm>
          <a:prstGeom prst="rect">
            <a:avLst/>
          </a:prstGeom>
        </p:spPr>
      </p:pic>
      <p:sp>
        <p:nvSpPr>
          <p:cNvPr id="3" name="TextBox 2">
            <a:extLst>
              <a:ext uri="{FF2B5EF4-FFF2-40B4-BE49-F238E27FC236}">
                <a16:creationId xmlns:a16="http://schemas.microsoft.com/office/drawing/2014/main" id="{45041717-75AE-3869-2FC2-962F47BFF66C}"/>
              </a:ext>
            </a:extLst>
          </p:cNvPr>
          <p:cNvSpPr txBox="1"/>
          <p:nvPr/>
        </p:nvSpPr>
        <p:spPr>
          <a:xfrm>
            <a:off x="158640" y="280975"/>
            <a:ext cx="5343796"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300" b="1" dirty="0">
                <a:ea typeface="Source Sans Pro"/>
              </a:rPr>
              <a:t>Attack in action:</a:t>
            </a:r>
            <a:endParaRPr lang="en-US" sz="4300" b="1" dirty="0"/>
          </a:p>
        </p:txBody>
      </p:sp>
      <p:sp>
        <p:nvSpPr>
          <p:cNvPr id="6" name="Oval 5">
            <a:extLst>
              <a:ext uri="{FF2B5EF4-FFF2-40B4-BE49-F238E27FC236}">
                <a16:creationId xmlns:a16="http://schemas.microsoft.com/office/drawing/2014/main" id="{9220817B-E02C-D6A5-76C0-73FF24595DCC}"/>
              </a:ext>
            </a:extLst>
          </p:cNvPr>
          <p:cNvSpPr/>
          <p:nvPr/>
        </p:nvSpPr>
        <p:spPr>
          <a:xfrm>
            <a:off x="1335066" y="1892485"/>
            <a:ext cx="6119873" cy="341568"/>
          </a:xfrm>
          <a:prstGeom prst="ellipse">
            <a:avLst/>
          </a:prstGeom>
          <a:noFill/>
          <a:ln w="57150">
            <a:solidFill>
              <a:srgbClr val="92D05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A0D1F07-4996-DA63-4EFB-9B480217EAB2}"/>
              </a:ext>
            </a:extLst>
          </p:cNvPr>
          <p:cNvCxnSpPr/>
          <p:nvPr/>
        </p:nvCxnSpPr>
        <p:spPr>
          <a:xfrm flipV="1">
            <a:off x="2138720" y="2267312"/>
            <a:ext cx="2217425" cy="2954149"/>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8CE935A-35FC-B05E-D4F6-F5F140B25587}"/>
              </a:ext>
            </a:extLst>
          </p:cNvPr>
          <p:cNvSpPr txBox="1"/>
          <p:nvPr/>
        </p:nvSpPr>
        <p:spPr>
          <a:xfrm>
            <a:off x="307071" y="5164904"/>
            <a:ext cx="758917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We trigger an IP lookup for google.com on the target DNS server. We preemptively send a fake reply because we cannot predict exactly when the server will be ready to accept it.</a:t>
            </a:r>
            <a:endParaRPr lang="en-US" dirty="0">
              <a:ea typeface="+mn-lt"/>
              <a:cs typeface="+mn-lt"/>
            </a:endParaRPr>
          </a:p>
        </p:txBody>
      </p:sp>
    </p:spTree>
    <p:extLst>
      <p:ext uri="{BB962C8B-B14F-4D97-AF65-F5344CB8AC3E}">
        <p14:creationId xmlns:p14="http://schemas.microsoft.com/office/powerpoint/2010/main" val="1587664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BDBC4-8E43-C67C-5E30-44E9E3E5B18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D0BBC10-C392-EFC1-2A09-618AFAF9A146}"/>
              </a:ext>
            </a:extLst>
          </p:cNvPr>
          <p:cNvPicPr>
            <a:picLocks noChangeAspect="1"/>
          </p:cNvPicPr>
          <p:nvPr/>
        </p:nvPicPr>
        <p:blipFill>
          <a:blip r:embed="rId2"/>
          <a:stretch>
            <a:fillRect/>
          </a:stretch>
        </p:blipFill>
        <p:spPr>
          <a:xfrm>
            <a:off x="307102" y="1176444"/>
            <a:ext cx="7656494" cy="3982841"/>
          </a:xfrm>
          <a:prstGeom prst="rect">
            <a:avLst/>
          </a:prstGeom>
        </p:spPr>
      </p:pic>
      <p:sp>
        <p:nvSpPr>
          <p:cNvPr id="3" name="TextBox 2">
            <a:extLst>
              <a:ext uri="{FF2B5EF4-FFF2-40B4-BE49-F238E27FC236}">
                <a16:creationId xmlns:a16="http://schemas.microsoft.com/office/drawing/2014/main" id="{324BAC58-BD2C-9267-C9F9-725F3A06E84B}"/>
              </a:ext>
            </a:extLst>
          </p:cNvPr>
          <p:cNvSpPr txBox="1"/>
          <p:nvPr/>
        </p:nvSpPr>
        <p:spPr>
          <a:xfrm>
            <a:off x="158640" y="280975"/>
            <a:ext cx="5343796"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300" b="1" dirty="0">
                <a:ea typeface="Source Sans Pro"/>
              </a:rPr>
              <a:t>Attack in action:</a:t>
            </a:r>
            <a:endParaRPr lang="en-US" sz="4300" b="1" dirty="0"/>
          </a:p>
        </p:txBody>
      </p:sp>
      <p:sp>
        <p:nvSpPr>
          <p:cNvPr id="6" name="Oval 5">
            <a:extLst>
              <a:ext uri="{FF2B5EF4-FFF2-40B4-BE49-F238E27FC236}">
                <a16:creationId xmlns:a16="http://schemas.microsoft.com/office/drawing/2014/main" id="{9504E034-939A-453A-786B-FAC276C98DAF}"/>
              </a:ext>
            </a:extLst>
          </p:cNvPr>
          <p:cNvSpPr/>
          <p:nvPr/>
        </p:nvSpPr>
        <p:spPr>
          <a:xfrm>
            <a:off x="1335066" y="2087869"/>
            <a:ext cx="6119873" cy="2940183"/>
          </a:xfrm>
          <a:prstGeom prst="ellipse">
            <a:avLst/>
          </a:prstGeom>
          <a:noFill/>
          <a:ln w="57150">
            <a:solidFill>
              <a:srgbClr val="92D05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C9D02966-FB36-42A8-09E6-5F3157A6D65F}"/>
              </a:ext>
            </a:extLst>
          </p:cNvPr>
          <p:cNvCxnSpPr/>
          <p:nvPr/>
        </p:nvCxnSpPr>
        <p:spPr>
          <a:xfrm flipV="1">
            <a:off x="1269257" y="4279773"/>
            <a:ext cx="449196" cy="1010072"/>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851AFE4-CB97-0D9F-9044-C3C4E6411A9C}"/>
              </a:ext>
            </a:extLst>
          </p:cNvPr>
          <p:cNvSpPr txBox="1"/>
          <p:nvPr/>
        </p:nvSpPr>
        <p:spPr>
          <a:xfrm>
            <a:off x="307071" y="5228348"/>
            <a:ext cx="765953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We flood the target DNS server with fake responses to beat the upstream DNS server. This successfully poisons the cache, redirecting all users to the malicious IP 7.7.7.7</a:t>
            </a:r>
            <a:endParaRPr lang="en-US" dirty="0">
              <a:ea typeface="+mn-lt"/>
              <a:cs typeface="+mn-lt"/>
            </a:endParaRPr>
          </a:p>
        </p:txBody>
      </p:sp>
    </p:spTree>
    <p:extLst>
      <p:ext uri="{BB962C8B-B14F-4D97-AF65-F5344CB8AC3E}">
        <p14:creationId xmlns:p14="http://schemas.microsoft.com/office/powerpoint/2010/main" val="3045533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2342C-3709-4D49-1235-7CDDB00A79B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3D0ADB6-C816-205E-49A6-D49F2F493872}"/>
              </a:ext>
            </a:extLst>
          </p:cNvPr>
          <p:cNvPicPr>
            <a:picLocks noChangeAspect="1"/>
          </p:cNvPicPr>
          <p:nvPr/>
        </p:nvPicPr>
        <p:blipFill>
          <a:blip r:embed="rId2"/>
          <a:stretch>
            <a:fillRect/>
          </a:stretch>
        </p:blipFill>
        <p:spPr>
          <a:xfrm>
            <a:off x="157528" y="1247042"/>
            <a:ext cx="8477250" cy="3543300"/>
          </a:xfrm>
          <a:prstGeom prst="rect">
            <a:avLst/>
          </a:prstGeom>
        </p:spPr>
      </p:pic>
      <p:sp>
        <p:nvSpPr>
          <p:cNvPr id="3" name="TextBox 2">
            <a:extLst>
              <a:ext uri="{FF2B5EF4-FFF2-40B4-BE49-F238E27FC236}">
                <a16:creationId xmlns:a16="http://schemas.microsoft.com/office/drawing/2014/main" id="{9BD518DF-4490-9D9A-BB0C-0A8E452C9005}"/>
              </a:ext>
            </a:extLst>
          </p:cNvPr>
          <p:cNvSpPr txBox="1"/>
          <p:nvPr/>
        </p:nvSpPr>
        <p:spPr>
          <a:xfrm>
            <a:off x="158640" y="280975"/>
            <a:ext cx="5343796"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300" b="1" dirty="0">
                <a:ea typeface="+mn-lt"/>
                <a:cs typeface="+mn-lt"/>
              </a:rPr>
              <a:t>Result of the attack</a:t>
            </a:r>
            <a:r>
              <a:rPr lang="en-US" sz="4300" b="1" dirty="0">
                <a:ea typeface="Source Sans Pro"/>
              </a:rPr>
              <a:t>:</a:t>
            </a:r>
          </a:p>
        </p:txBody>
      </p:sp>
      <p:sp>
        <p:nvSpPr>
          <p:cNvPr id="6" name="Oval 5">
            <a:extLst>
              <a:ext uri="{FF2B5EF4-FFF2-40B4-BE49-F238E27FC236}">
                <a16:creationId xmlns:a16="http://schemas.microsoft.com/office/drawing/2014/main" id="{C18C7F66-882A-103C-C2FC-0F065037F041}"/>
              </a:ext>
            </a:extLst>
          </p:cNvPr>
          <p:cNvSpPr/>
          <p:nvPr/>
        </p:nvSpPr>
        <p:spPr>
          <a:xfrm>
            <a:off x="152990" y="3240637"/>
            <a:ext cx="7565718" cy="859338"/>
          </a:xfrm>
          <a:prstGeom prst="ellipse">
            <a:avLst/>
          </a:prstGeom>
          <a:noFill/>
          <a:ln w="57150">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E7E60AB-FE80-C5F4-13A9-EFB0084B7920}"/>
              </a:ext>
            </a:extLst>
          </p:cNvPr>
          <p:cNvCxnSpPr/>
          <p:nvPr/>
        </p:nvCxnSpPr>
        <p:spPr>
          <a:xfrm flipV="1">
            <a:off x="1269257" y="4035543"/>
            <a:ext cx="546888" cy="119568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6B082C3-8CAF-8045-4EE5-417283CB10D9}"/>
              </a:ext>
            </a:extLst>
          </p:cNvPr>
          <p:cNvSpPr txBox="1"/>
          <p:nvPr/>
        </p:nvSpPr>
        <p:spPr>
          <a:xfrm>
            <a:off x="277764" y="5159964"/>
            <a:ext cx="768884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If the attack was successful, on any machine retrieving the IP from this DNS server, we can see that google.com resolves to the IP 7.7.7.7</a:t>
            </a:r>
            <a:endParaRPr lang="en-US" dirty="0">
              <a:ea typeface="+mn-lt"/>
              <a:cs typeface="+mn-lt"/>
            </a:endParaRPr>
          </a:p>
        </p:txBody>
      </p:sp>
    </p:spTree>
    <p:extLst>
      <p:ext uri="{BB962C8B-B14F-4D97-AF65-F5344CB8AC3E}">
        <p14:creationId xmlns:p14="http://schemas.microsoft.com/office/powerpoint/2010/main" val="3248966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40966-889A-6FA2-A2D7-018BE960D488}"/>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1F09140-4A73-6E21-FF02-3F9CA63958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AD16A09-E944-3EF4-877B-D930806C5299}"/>
              </a:ext>
            </a:extLst>
          </p:cNvPr>
          <p:cNvSpPr txBox="1"/>
          <p:nvPr/>
        </p:nvSpPr>
        <p:spPr>
          <a:xfrm>
            <a:off x="124557" y="102577"/>
            <a:ext cx="7794775"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300" b="1" dirty="0">
                <a:latin typeface="Roboto"/>
                <a:ea typeface="Roboto"/>
                <a:cs typeface="Roboto"/>
              </a:rPr>
              <a:t>Possible countermeasures</a:t>
            </a:r>
            <a:r>
              <a:rPr lang="en-US" sz="4300" b="1" dirty="0">
                <a:ea typeface="Source Sans Pro"/>
              </a:rPr>
              <a:t>:</a:t>
            </a:r>
          </a:p>
        </p:txBody>
      </p:sp>
      <p:sp>
        <p:nvSpPr>
          <p:cNvPr id="2" name="TextBox 1">
            <a:extLst>
              <a:ext uri="{FF2B5EF4-FFF2-40B4-BE49-F238E27FC236}">
                <a16:creationId xmlns:a16="http://schemas.microsoft.com/office/drawing/2014/main" id="{98A0EA2E-71AE-54EB-F5CA-0090F34BC29D}"/>
              </a:ext>
            </a:extLst>
          </p:cNvPr>
          <p:cNvSpPr txBox="1"/>
          <p:nvPr/>
        </p:nvSpPr>
        <p:spPr>
          <a:xfrm>
            <a:off x="454268" y="1150326"/>
            <a:ext cx="8474807"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ea typeface="Source Sans Pro"/>
              </a:rPr>
              <a:t>Switching to </a:t>
            </a:r>
            <a:r>
              <a:rPr lang="en-US" dirty="0">
                <a:ea typeface="+mn-lt"/>
                <a:cs typeface="+mn-lt"/>
              </a:rPr>
              <a:t>DNSSEC (Domain Name System Security Extensions): adds a layer of security by attaching cryptographic signatures to DNS records. This ensures data integrity and origin authentication, allowing the resolver to verify that the response comes from the legitimate source. Consequently, it prevents cache poisoning attacks because any spoofed response (lacking a valid signature) is automatically rejected</a:t>
            </a:r>
            <a:endParaRPr lang="en-US"/>
          </a:p>
          <a:p>
            <a:pPr marL="342900" indent="-342900">
              <a:buFont typeface="Arial"/>
              <a:buChar char="•"/>
            </a:pPr>
            <a:endParaRPr lang="en-US" dirty="0">
              <a:ea typeface="Source Sans Pro"/>
            </a:endParaRPr>
          </a:p>
          <a:p>
            <a:pPr marL="342900" indent="-342900">
              <a:buFont typeface="Arial"/>
              <a:buChar char="•"/>
            </a:pPr>
            <a:r>
              <a:rPr lang="en-US" dirty="0">
                <a:ea typeface="+mn-lt"/>
                <a:cs typeface="+mn-lt"/>
              </a:rPr>
              <a:t>Source Port Randomization: increases the entropy of the DNS transaction. Instead of using a fixed or predictable port for outgoing queries, the resolver selects a random ephemeral port for each request. To succeed, an attacker must now correctly guess both the 16-bit Transaction ID and the random 16-bit source port simultaneously. This expands the search space to over 4 billion combinations, making blind brute-force attacks computationally infeasible</a:t>
            </a:r>
          </a:p>
          <a:p>
            <a:pPr marL="342900" indent="-342900">
              <a:buFont typeface="Arial"/>
              <a:buChar char="•"/>
            </a:pPr>
            <a:endParaRPr lang="en-US" dirty="0">
              <a:ea typeface="Source Sans Pro"/>
            </a:endParaRPr>
          </a:p>
          <a:p>
            <a:pPr marL="342900" indent="-342900">
              <a:buFont typeface="Arial"/>
              <a:buChar char="•"/>
            </a:pPr>
            <a:r>
              <a:rPr lang="en-US" dirty="0">
                <a:ea typeface="+mn-lt"/>
                <a:cs typeface="+mn-lt"/>
              </a:rPr>
              <a:t>DNS 0x20: Encoding uses mixed-case randomization in the domain name query (e.g., requesting </a:t>
            </a:r>
            <a:r>
              <a:rPr lang="en-US" dirty="0" err="1">
                <a:latin typeface="Consolas"/>
                <a:ea typeface="Source Sans Pro"/>
              </a:rPr>
              <a:t>GoOgLe.cOm</a:t>
            </a:r>
            <a:r>
              <a:rPr lang="en-US" dirty="0">
                <a:ea typeface="+mn-lt"/>
                <a:cs typeface="+mn-lt"/>
              </a:rPr>
              <a:t> instead of </a:t>
            </a:r>
            <a:r>
              <a:rPr lang="en-US" dirty="0">
                <a:latin typeface="Consolas"/>
                <a:ea typeface="Source Sans Pro"/>
              </a:rPr>
              <a:t>google.com</a:t>
            </a:r>
            <a:r>
              <a:rPr lang="en-US" dirty="0">
                <a:ea typeface="+mn-lt"/>
                <a:cs typeface="+mn-lt"/>
              </a:rPr>
              <a:t>). Since standard authoritative servers copy the query section exactly into their response, the resolver can verify that the casing in the reply matches the query perfectly. An attacker, unable to predict the specific randomization pattern, will likely send a response with incorrect casing (e.g., all lowercase), causing it to be rejected.</a:t>
            </a:r>
          </a:p>
        </p:txBody>
      </p:sp>
    </p:spTree>
    <p:extLst>
      <p:ext uri="{BB962C8B-B14F-4D97-AF65-F5344CB8AC3E}">
        <p14:creationId xmlns:p14="http://schemas.microsoft.com/office/powerpoint/2010/main" val="2806131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3E06-74AF-8FA4-2F0A-512A0B6A81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65CD79-8CAB-CCE3-BA8A-3F2900D247E2}"/>
              </a:ext>
            </a:extLst>
          </p:cNvPr>
          <p:cNvSpPr txBox="1"/>
          <p:nvPr/>
        </p:nvSpPr>
        <p:spPr>
          <a:xfrm>
            <a:off x="201449" y="152548"/>
            <a:ext cx="7102366" cy="1415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300" b="1" dirty="0">
                <a:ea typeface="Source Sans Pro"/>
              </a:rPr>
              <a:t>Source Port Randomization code example:</a:t>
            </a:r>
            <a:endParaRPr lang="en-US" dirty="0">
              <a:ea typeface="Source Sans Pro"/>
            </a:endParaRPr>
          </a:p>
        </p:txBody>
      </p:sp>
      <p:pic>
        <p:nvPicPr>
          <p:cNvPr id="4" name="Picture 3">
            <a:extLst>
              <a:ext uri="{FF2B5EF4-FFF2-40B4-BE49-F238E27FC236}">
                <a16:creationId xmlns:a16="http://schemas.microsoft.com/office/drawing/2014/main" id="{CA60B3E3-BCE5-71BE-E9BB-231015BCCDAB}"/>
              </a:ext>
            </a:extLst>
          </p:cNvPr>
          <p:cNvPicPr>
            <a:picLocks noChangeAspect="1"/>
          </p:cNvPicPr>
          <p:nvPr/>
        </p:nvPicPr>
        <p:blipFill>
          <a:blip r:embed="rId2"/>
          <a:stretch>
            <a:fillRect/>
          </a:stretch>
        </p:blipFill>
        <p:spPr>
          <a:xfrm>
            <a:off x="293509" y="2665288"/>
            <a:ext cx="8686067" cy="1443892"/>
          </a:xfrm>
          <a:prstGeom prst="rect">
            <a:avLst/>
          </a:prstGeom>
        </p:spPr>
      </p:pic>
    </p:spTree>
    <p:extLst>
      <p:ext uri="{BB962C8B-B14F-4D97-AF65-F5344CB8AC3E}">
        <p14:creationId xmlns:p14="http://schemas.microsoft.com/office/powerpoint/2010/main" val="2872078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FDAB5-7421-E78C-FA53-9721DB4FB7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7E5F5DE-8B6E-C4A6-EA7E-9843E1DC7275}"/>
              </a:ext>
            </a:extLst>
          </p:cNvPr>
          <p:cNvSpPr txBox="1"/>
          <p:nvPr/>
        </p:nvSpPr>
        <p:spPr>
          <a:xfrm>
            <a:off x="201449" y="152548"/>
            <a:ext cx="6174290"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300" b="1" dirty="0">
                <a:ea typeface="+mn-lt"/>
                <a:cs typeface="+mn-lt"/>
              </a:rPr>
              <a:t>DNS 0x20 code example:</a:t>
            </a:r>
            <a:endParaRPr lang="en-US" dirty="0"/>
          </a:p>
        </p:txBody>
      </p:sp>
      <p:pic>
        <p:nvPicPr>
          <p:cNvPr id="2" name="Picture 1">
            <a:extLst>
              <a:ext uri="{FF2B5EF4-FFF2-40B4-BE49-F238E27FC236}">
                <a16:creationId xmlns:a16="http://schemas.microsoft.com/office/drawing/2014/main" id="{9303D024-187D-4120-B2FB-1BCBC3641F9C}"/>
              </a:ext>
            </a:extLst>
          </p:cNvPr>
          <p:cNvPicPr>
            <a:picLocks noChangeAspect="1"/>
          </p:cNvPicPr>
          <p:nvPr/>
        </p:nvPicPr>
        <p:blipFill>
          <a:blip r:embed="rId2"/>
          <a:stretch>
            <a:fillRect/>
          </a:stretch>
        </p:blipFill>
        <p:spPr>
          <a:xfrm>
            <a:off x="257175" y="904631"/>
            <a:ext cx="7105650" cy="3505200"/>
          </a:xfrm>
          <a:prstGeom prst="rect">
            <a:avLst/>
          </a:prstGeom>
        </p:spPr>
      </p:pic>
    </p:spTree>
    <p:extLst>
      <p:ext uri="{BB962C8B-B14F-4D97-AF65-F5344CB8AC3E}">
        <p14:creationId xmlns:p14="http://schemas.microsoft.com/office/powerpoint/2010/main" val="204554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0286A-4450-7F8D-FF81-82925CF383FE}"/>
              </a:ext>
            </a:extLst>
          </p:cNvPr>
          <p:cNvSpPr>
            <a:spLocks noGrp="1"/>
          </p:cNvSpPr>
          <p:nvPr>
            <p:ph type="title"/>
          </p:nvPr>
        </p:nvSpPr>
        <p:spPr/>
        <p:txBody>
          <a:bodyPr>
            <a:normAutofit/>
          </a:bodyPr>
          <a:lstStyle/>
          <a:p>
            <a:r>
              <a:rPr lang="en-US" sz="4300" b="1" i="0" dirty="0">
                <a:latin typeface="Roboto"/>
                <a:ea typeface="Source Sans Pro Light"/>
                <a:cs typeface="Roboto"/>
              </a:rPr>
              <a:t>Sources:</a:t>
            </a:r>
            <a:endParaRPr lang="en-US" sz="4300" b="1" i="0" dirty="0">
              <a:latin typeface="Source Sans Pro Light"/>
              <a:ea typeface="Source Sans Pro Light"/>
              <a:cs typeface="Roboto"/>
            </a:endParaRPr>
          </a:p>
        </p:txBody>
      </p:sp>
      <p:sp>
        <p:nvSpPr>
          <p:cNvPr id="3" name="Content Placeholder 2">
            <a:extLst>
              <a:ext uri="{FF2B5EF4-FFF2-40B4-BE49-F238E27FC236}">
                <a16:creationId xmlns:a16="http://schemas.microsoft.com/office/drawing/2014/main" id="{2B2A5C3E-2B06-69A1-A45A-74FED045651E}"/>
              </a:ext>
            </a:extLst>
          </p:cNvPr>
          <p:cNvSpPr>
            <a:spLocks noGrp="1"/>
          </p:cNvSpPr>
          <p:nvPr>
            <p:ph idx="1"/>
          </p:nvPr>
        </p:nvSpPr>
        <p:spPr>
          <a:xfrm>
            <a:off x="448056" y="1724903"/>
            <a:ext cx="11303497" cy="1589689"/>
          </a:xfrm>
        </p:spPr>
        <p:txBody>
          <a:bodyPr vert="horz" wrap="square" lIns="0" tIns="0" rIns="91440" bIns="0" rtlCol="0" anchor="t">
            <a:normAutofit/>
          </a:bodyPr>
          <a:lstStyle/>
          <a:p>
            <a:pPr marL="449580" indent="-447675"/>
            <a:r>
              <a:rPr lang="en-US" dirty="0">
                <a:solidFill>
                  <a:schemeClr val="tx1"/>
                </a:solidFill>
                <a:ea typeface="+mn-lt"/>
                <a:cs typeface="+mn-lt"/>
                <a:hlinkClick r:id="rId2">
                  <a:extLst>
                    <a:ext uri="{A12FA001-AC4F-418D-AE19-62706E023703}">
                      <ahyp:hlinkClr xmlns:ahyp="http://schemas.microsoft.com/office/drawing/2018/hyperlinkcolor" val="tx"/>
                    </a:ext>
                  </a:extLst>
                </a:hlinkClick>
              </a:rPr>
              <a:t>Che cos'è il DNS cache poisoning? | DNS spoofing | Cloudflare</a:t>
            </a:r>
          </a:p>
          <a:p>
            <a:pPr marL="449580" indent="-447675"/>
            <a:r>
              <a:rPr lang="en-US" dirty="0">
                <a:solidFill>
                  <a:schemeClr val="tx1"/>
                </a:solidFill>
                <a:ea typeface="+mn-lt"/>
                <a:cs typeface="+mn-lt"/>
                <a:hlinkClick r:id="rId3">
                  <a:extLst>
                    <a:ext uri="{A12FA001-AC4F-418D-AE19-62706E023703}">
                      <ahyp:hlinkClr xmlns:ahyp="http://schemas.microsoft.com/office/drawing/2018/hyperlinkcolor" val="tx"/>
                    </a:ext>
                  </a:extLst>
                </a:hlinkClick>
              </a:rPr>
              <a:t>https://youtu.be/pFh1hmdRAoU?si=ayNj7a114_zaEpA2</a:t>
            </a:r>
          </a:p>
          <a:p>
            <a:pPr marL="449580" indent="-447675"/>
            <a:r>
              <a:rPr lang="en-US" dirty="0">
                <a:solidFill>
                  <a:schemeClr val="tx1"/>
                </a:solidFill>
                <a:ea typeface="+mn-lt"/>
                <a:cs typeface="+mn-lt"/>
                <a:hlinkClick r:id="rId4">
                  <a:extLst>
                    <a:ext uri="{A12FA001-AC4F-418D-AE19-62706E023703}">
                      <ahyp:hlinkClr xmlns:ahyp="http://schemas.microsoft.com/office/drawing/2018/hyperlinkcolor" val="tx"/>
                    </a:ext>
                  </a:extLst>
                </a:hlinkClick>
              </a:rPr>
              <a:t>https://youtu.be/7MT1F0O3_Yw?si=NpUvmqdFNvp4iDqV</a:t>
            </a:r>
          </a:p>
          <a:p>
            <a:pPr marL="1905" indent="0">
              <a:buNone/>
            </a:pPr>
            <a:endParaRPr lang="en-US" dirty="0">
              <a:solidFill>
                <a:srgbClr val="FFFFFF">
                  <a:alpha val="55000"/>
                </a:srgbClr>
              </a:solidFill>
              <a:ea typeface="Source Sans Pro"/>
            </a:endParaRPr>
          </a:p>
        </p:txBody>
      </p:sp>
      <p:sp>
        <p:nvSpPr>
          <p:cNvPr id="4" name="TextBox 3">
            <a:extLst>
              <a:ext uri="{FF2B5EF4-FFF2-40B4-BE49-F238E27FC236}">
                <a16:creationId xmlns:a16="http://schemas.microsoft.com/office/drawing/2014/main" id="{1164F316-DB43-4E27-7E8C-C9B3119F9A1B}"/>
              </a:ext>
            </a:extLst>
          </p:cNvPr>
          <p:cNvSpPr txBox="1"/>
          <p:nvPr/>
        </p:nvSpPr>
        <p:spPr>
          <a:xfrm>
            <a:off x="448737" y="3719795"/>
            <a:ext cx="4765059"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300" b="1" dirty="0">
                <a:latin typeface="Roboto"/>
                <a:ea typeface="Source Sans Pro"/>
                <a:cs typeface="Roboto"/>
              </a:rPr>
              <a:t>My </a:t>
            </a:r>
            <a:r>
              <a:rPr lang="en-US" sz="4300" b="1" err="1">
                <a:latin typeface="Roboto"/>
                <a:ea typeface="Source Sans Pro"/>
                <a:cs typeface="Roboto"/>
              </a:rPr>
              <a:t>github</a:t>
            </a:r>
            <a:r>
              <a:rPr lang="en-US" sz="4300" b="1" dirty="0">
                <a:latin typeface="Roboto"/>
                <a:ea typeface="Source Sans Pro"/>
                <a:cs typeface="Roboto"/>
              </a:rPr>
              <a:t> repo:</a:t>
            </a:r>
            <a:endParaRPr lang="en-US" sz="4300" b="1" dirty="0">
              <a:latin typeface="Roboto"/>
              <a:cs typeface="Roboto"/>
            </a:endParaRPr>
          </a:p>
        </p:txBody>
      </p:sp>
      <p:sp>
        <p:nvSpPr>
          <p:cNvPr id="7" name="TextBox 6">
            <a:extLst>
              <a:ext uri="{FF2B5EF4-FFF2-40B4-BE49-F238E27FC236}">
                <a16:creationId xmlns:a16="http://schemas.microsoft.com/office/drawing/2014/main" id="{A873AACC-525C-AABD-F5C7-DCDC72CA813E}"/>
              </a:ext>
            </a:extLst>
          </p:cNvPr>
          <p:cNvSpPr txBox="1"/>
          <p:nvPr/>
        </p:nvSpPr>
        <p:spPr>
          <a:xfrm>
            <a:off x="444202" y="4742067"/>
            <a:ext cx="101373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hlinkClick r:id="rId5">
                  <a:extLst>
                    <a:ext uri="{A12FA001-AC4F-418D-AE19-62706E023703}">
                      <ahyp:hlinkClr xmlns:ahyp="http://schemas.microsoft.com/office/drawing/2018/hyperlinkcolor" val="tx"/>
                    </a:ext>
                  </a:extLst>
                </a:hlinkClick>
              </a:rPr>
              <a:t>Zartep/DNS_cache_poisoning_attack_simulation: Academic Project: DNS Cache Poisoning Simulation</a:t>
            </a:r>
            <a:endParaRPr lang="en-US">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905958516"/>
      </p:ext>
    </p:extLst>
  </p:cSld>
  <p:clrMapOvr>
    <a:masterClrMapping/>
  </p:clrMapOvr>
</p:sld>
</file>

<file path=ppt/theme/theme1.xml><?xml version="1.0" encoding="utf-8"?>
<a:theme xmlns:a="http://schemas.openxmlformats.org/drawingml/2006/main" name="ThinLineVTI">
  <a:themeElements>
    <a:clrScheme name="ThinLines Color Scheme">
      <a:dk1>
        <a:sysClr val="windowText" lastClr="000000"/>
      </a:dk1>
      <a:lt1>
        <a:sysClr val="window" lastClr="FFFFFF"/>
      </a:lt1>
      <a:dk2>
        <a:srgbClr val="000000"/>
      </a:dk2>
      <a:lt2>
        <a:srgbClr val="FFFFFF"/>
      </a:lt2>
      <a:accent1>
        <a:srgbClr val="00BAC8"/>
      </a:accent1>
      <a:accent2>
        <a:srgbClr val="794DFF"/>
      </a:accent2>
      <a:accent3>
        <a:srgbClr val="00D17D"/>
      </a:accent3>
      <a:accent4>
        <a:srgbClr val="404040"/>
      </a:accent4>
      <a:accent5>
        <a:srgbClr val="FE5D21"/>
      </a:accent5>
      <a:accent6>
        <a:srgbClr val="B3B3B3"/>
      </a:accent6>
      <a:hlink>
        <a:srgbClr val="3E8FF1"/>
      </a:hlink>
      <a:folHlink>
        <a:srgbClr val="939393"/>
      </a:folHlink>
    </a:clrScheme>
    <a:fontScheme name="Custom 3">
      <a:majorFont>
        <a:latin typeface="Source Sans Pro Light"/>
        <a:ea typeface=""/>
        <a:cs typeface=""/>
      </a:majorFont>
      <a:minorFont>
        <a:latin typeface="Source Sans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inLineVTI" id="{DA2A884B-D36C-4F63-9FE8-3C89F2B99A40}" vid="{62C1F77B-42AE-47B9-869B-5CE48C8ED844}"/>
    </a:ext>
  </a:extLst>
</a:theme>
</file>

<file path=ppt/theme/theme2.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17</Slides>
  <Notes>0</Notes>
  <HiddenSlides>0</HiddenSlides>
  <MMClips>0</MMClips>
  <ScaleCrop>false</ScaleCrop>
  <HeadingPairs>
    <vt:vector size="4" baseType="variant">
      <vt:variant>
        <vt:lpstr>Theme</vt:lpstr>
      </vt:variant>
      <vt:variant>
        <vt:i4>2</vt:i4>
      </vt:variant>
      <vt:variant>
        <vt:lpstr>Slide Titles</vt:lpstr>
      </vt:variant>
      <vt:variant>
        <vt:i4>17</vt:i4>
      </vt:variant>
    </vt:vector>
  </HeadingPairs>
  <TitlesOfParts>
    <vt:vector size="19" baseType="lpstr">
      <vt:lpstr>ThinLineVTI</vt:lpstr>
      <vt:lpstr>BrushVTI</vt:lpstr>
      <vt:lpstr>DNS CACHE POISONING ATTACK</vt:lpstr>
      <vt:lpstr>PowerPoint Presentation</vt:lpstr>
      <vt:lpstr>Result:</vt:lpstr>
      <vt:lpstr>EXPERIMENT SECTION</vt:lpstr>
      <vt:lpstr>Architecture Overview:</vt:lpstr>
      <vt:lpstr>Docker Compose Structure: </vt:lpstr>
      <vt:lpstr>Network Layout:  </vt:lpstr>
      <vt:lpstr>Attack Flow:   </vt:lpstr>
      <vt:lpstr>Demonstration Steps:    </vt:lpstr>
      <vt:lpstr>Network diagram:</vt:lpstr>
      <vt:lpstr>PowerPoint Presentation</vt:lpstr>
      <vt:lpstr>PowerPoint Presentation</vt:lpstr>
      <vt:lpstr>PowerPoint Presentation</vt:lpstr>
      <vt:lpstr>PowerPoint Presentation</vt:lpstr>
      <vt:lpstr>PowerPoint Presentation</vt:lpstr>
      <vt:lpstr>PowerPoint Presentation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404</cp:revision>
  <dcterms:created xsi:type="dcterms:W3CDTF">2025-11-23T13:43:11Z</dcterms:created>
  <dcterms:modified xsi:type="dcterms:W3CDTF">2025-11-25T15:40:48Z</dcterms:modified>
</cp:coreProperties>
</file>